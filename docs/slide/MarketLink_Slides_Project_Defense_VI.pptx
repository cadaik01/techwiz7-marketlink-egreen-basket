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1183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Thời lượng mục tiêu 15–20 giây. Điền tên thành viên và thông tin chính thức của đề tài trước khi bảo vệ.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Khoảng 40 giây. Nêu vấn đề từ góc nhìn người mua và nông dân, sau đó chốt phạm vi: không thanh toán online, không giao hàng.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Khoảng 60–70 giây. Giải thích lý do chọn React, Django, MySQL/InnoDB, Redis và Gemini theo nhu cầu nghiệp vụ. Không đọc tên mọi thư viện.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Khoảng 90 giây gồm demo. Nêu nhanh 4 vai trò, rồi demo một đơn: khách đặt → màn hình nông dân bật thông báo ngay (realtime) → nông dân xác nhận → sẵn sàng. Dùng dữ liệu chuẩn bị trước.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Khoảng 60–70 giây. Demo một tin bình thường và một tin bất thường; nhấn mạnh AI là lớp hỗ trợ, có luồng Admin rà soát. Chỉ nói những gì đang hoạt động trong bản hiện tại.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Khoảng 60 giây. Demo tối đa 2 câu hỏi ở đúng vai trò. Nhấn mạnh: bot dùng dữ liệu thật qua 7 công cụ chỉ đọc, mỗi người chỉ thấy dữ liệu của mình.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Khoảng 70 giây. Ví dụ 30 kg: A đặt 20 kg thì B chỉ đặt được tối đa 10 kg, web báo "Only 10 KG left". Bấm đặt 2 lần khi mạng chập chờn vẫn chỉ 1 đơn (Idempotency-Key lưu trong Redis). Transaction và khóa dòng để trả lời khi được hỏi sâu.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Khoảng 60 giây. Trả tiền mặt khi nhận, không đặt cọc → khách bỏ đơn là nông dân mất hàng. Nêu 3 lớp: giới hạn đặt, No-show trả hàng về kho, 3 lần trong 30 ngày tự khóa.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Khoảng 20–30 giây. Chốt 3 giá trị, đọc lướt dòng "tính năng mở rộng khác" để hội đồng biết còn nhiều thứ có thể hỏi, rồi chuyển sang hỏi đáp.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641080" y="-411480"/>
            <a:ext cx="4023360" cy="402336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46920" y="658368"/>
            <a:ext cx="2011680" cy="20116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0" y="3383280"/>
            <a:ext cx="3566160" cy="2194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001" sz="3600" b="1"/>
              <a:t>Local markets, reserved for you</a:t>
            </a:r>
          </a:p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594360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100" b="1" i="0">
                <a:solidFill>
                  <a:srgbClr val="22C55E"/>
                </a:solidFill>
                <a:latin typeface="Inter"/>
              </a:defRPr>
            </a:pPr>
            <a:r>
              <a:t>PROJECT DEFENSE  /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43584"/>
            <a:ext cx="6858000" cy="11430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4200" b="1" i="0">
                <a:solidFill>
                  <a:srgbClr val="F4F4F0"/>
                </a:solidFill>
                <a:latin typeface="Inter"/>
              </a:defRPr>
            </a:pPr>
            <a:r>
              <a:t>MarketLink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676656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200" b="1" i="0">
                <a:solidFill>
                  <a:srgbClr val="4ADE80"/>
                </a:solidFill>
                <a:latin typeface="Inter"/>
              </a:defRPr>
            </a:pPr>
            <a:r>
              <a:t>Kết nối người mua với nông dân</a:t>
            </a:r>
          </a:p>
          <a:p>
            <a:pPr algn="l">
              <a:spcAft>
                <a:spcPts val="600"/>
              </a:spcAft>
              <a:defRPr sz="2200" b="1" i="0">
                <a:solidFill>
                  <a:srgbClr val="4ADE80"/>
                </a:solidFill>
                <a:latin typeface="Inter"/>
              </a:defRPr>
            </a:pPr>
            <a:r>
              <a:t>trong hệ sinh thái chợ truyền thống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85616"/>
            <a:ext cx="621792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9DB0A6"/>
                </a:solidFill>
                <a:latin typeface="Inter"/>
              </a:defRPr>
            </a:pPr>
            <a:r>
              <a:t>Đặt trước trực tuyến  •  Nông dân xác nhận  •  Nhận hàng tại chợ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36008"/>
            <a:ext cx="2057400" cy="43891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4718304"/>
            <a:ext cx="182880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0F1A14"/>
                </a:solidFill>
                <a:latin typeface="Inter"/>
              </a:defRPr>
            </a:pPr>
            <a:r>
              <a:rPr lang="en-US"/>
              <a:t>Techwiz 7 - Project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61320" y="6236208"/>
            <a:ext cx="9144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01 / 09</a:t>
            </a:r>
          </a:p>
        </p:txBody>
      </p:sp>
      <p:pic>
        <p:nvPicPr>
          <p:cNvPr id="14" name="Title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1024128"/>
            <a:ext cx="1280160" cy="12801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C97219-5722-AEE9-3455-97DBFE7F99AF}"/>
              </a:ext>
            </a:extLst>
          </p:cNvPr>
          <p:cNvSpPr txBox="1"/>
          <p:nvPr/>
        </p:nvSpPr>
        <p:spPr>
          <a:xfrm>
            <a:off x="804672" y="5577840"/>
            <a:ext cx="621792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Nhóm thực hiện</a:t>
            </a:r>
            <a:br>
              <a:rPr lang="en-US"/>
            </a:br>
            <a:r>
              <a:rPr lang="en-US"/>
              <a:t>Nguyễn Đức Long  - Tăng Huỳnh Tuấn Tú  - Trần Lê Minh Anh - Nguyễn Khánh Danh - Phạm Kim Nghi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3774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22C55E"/>
                </a:solidFill>
                <a:latin typeface="Inter"/>
              </a:defRPr>
            </a:pPr>
            <a:r>
              <a:t>A1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Bài toán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MarketLink tập trung vào việc thu hẹp khoảng cách thông tin giữa người mua và nông dân.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3429000" cy="24231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54864" cy="242316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221992"/>
            <a:ext cx="304495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800" b="1" i="0">
                <a:solidFill>
                  <a:srgbClr val="F4F4F0"/>
                </a:solidFill>
                <a:latin typeface="Inter"/>
              </a:defRPr>
            </a:pPr>
            <a:r>
              <a:t>NGƯỜI MUA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97480"/>
            <a:ext cx="3044952" cy="1673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9DB0A6"/>
                </a:solidFill>
                <a:latin typeface="Inter"/>
              </a:defRPr>
            </a:pPr>
            <a:r>
              <a:t>Khó tìm chợ phù hợp, biết sạp nào bán mặt hàng cần mua và chủ động lên kế hoạch nhận hàng.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29000" cy="24231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54864" cy="2423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221992"/>
            <a:ext cx="304495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800" b="1" i="0">
                <a:solidFill>
                  <a:srgbClr val="F4F4F0"/>
                </a:solidFill>
                <a:latin typeface="Inter"/>
              </a:defRPr>
            </a:pPr>
            <a:r>
              <a:t>NÔNG DÂN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697480"/>
            <a:ext cx="3044952" cy="1673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9DB0A6"/>
                </a:solidFill>
                <a:latin typeface="Inter"/>
              </a:defRPr>
            </a:pPr>
            <a:r>
              <a:t>Thiếu kênh giới thiệu sản phẩm theo lịch bán và tiếp nhận đơn trước khi khách đến chợ.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57400"/>
            <a:ext cx="3429000" cy="24231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057400"/>
            <a:ext cx="54864" cy="2423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21992"/>
            <a:ext cx="304495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800" b="1" i="0">
                <a:solidFill>
                  <a:srgbClr val="F4F4F0"/>
                </a:solidFill>
                <a:latin typeface="Inter"/>
              </a:defRPr>
            </a:pPr>
            <a:r>
              <a:t>MỤC TIÊU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97480"/>
            <a:ext cx="3044952" cy="1673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9DB0A6"/>
                </a:solidFill>
                <a:latin typeface="Inter"/>
              </a:defRPr>
            </a:pPr>
            <a:r>
              <a:t>Tạo quy trình số hóa: tìm hàng → đặt trước → xác nhận → nhận hàng và thanh toán tại sạp.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06070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4ADE80"/>
                </a:solidFill>
                <a:latin typeface="Inter"/>
              </a:defRPr>
            </a:pPr>
            <a:r>
              <a:t>Phạm vi: hỗ trợ tìm kiếm và đặt trước; không triển khai thanh toán trực tuyến hoặc giao hàng.</a:t>
            </a:r>
          </a:p>
        </p:txBody>
      </p:sp>
      <p:pic>
        <p:nvPicPr>
          <p:cNvPr id="21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3774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22C55E"/>
                </a:solidFill>
                <a:latin typeface="Inter"/>
              </a:defRPr>
            </a:pPr>
            <a:r>
              <a:t>A2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Giải pháp và kiến trúc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Kiến trúc tách biệt giao diện, nghiệp vụ, dữ liệu và các dịch vụ hỗ trợ.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240280" cy="1051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105156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18562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F4F4F0"/>
                </a:solidFill>
                <a:latin typeface="Inter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856232" cy="30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React 19 + 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395728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057400"/>
            <a:ext cx="2423160" cy="1051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11880" y="2057400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13048" y="2221992"/>
            <a:ext cx="20391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2697480"/>
            <a:ext cx="2039112" cy="30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Django REST + WebSocket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2395728"/>
            <a:ext cx="502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057400"/>
            <a:ext cx="2057400" cy="1051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75120" y="205740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76288" y="2221992"/>
            <a:ext cx="167335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F4F4F0"/>
                </a:solidFill>
                <a:latin typeface="Inter"/>
              </a:defRPr>
            </a:pPr>
            <a: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2697480"/>
            <a:ext cx="1673352" cy="30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MySQL 8 / InnoDB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057400"/>
            <a:ext cx="2286000" cy="1051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2057400"/>
            <a:ext cx="54864" cy="10515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45168" y="2221992"/>
            <a:ext cx="190195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F4F4F0"/>
                </a:solidFill>
                <a:latin typeface="Inter"/>
              </a:defRPr>
            </a:pPr>
            <a:r>
              <a:t>AI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697480"/>
            <a:ext cx="1901952" cy="30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Gemini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3429000"/>
            <a:ext cx="4572000" cy="41148"/>
          </a:xfrm>
          <a:prstGeom prst="rect">
            <a:avLst/>
          </a:prstGeom>
          <a:solidFill>
            <a:srgbClr val="9DB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0" y="3566160"/>
            <a:ext cx="4389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Redis: thông báo realtime • giới hạn tần suất • quản lý phiên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297680"/>
            <a:ext cx="3337560" cy="1051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4297680"/>
            <a:ext cx="54864" cy="105156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8408" y="4462272"/>
            <a:ext cx="29535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F4F4F0"/>
                </a:solidFill>
                <a:latin typeface="Inter"/>
              </a:defRPr>
            </a:pPr>
            <a:r>
              <a:t>Triển khai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4937760"/>
            <a:ext cx="2953512" cy="30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Vercel • Render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4297680"/>
            <a:ext cx="3337560" cy="1051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34840" y="4297680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36007" y="4462272"/>
            <a:ext cx="29535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F4F4F0"/>
                </a:solidFill>
                <a:latin typeface="Inter"/>
              </a:defRPr>
            </a:pPr>
            <a:r>
              <a:t>Nghiệp vụ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7" y="4937760"/>
            <a:ext cx="2953512" cy="30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Service / Selector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4297680"/>
            <a:ext cx="3337560" cy="105156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92440" y="429768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93608" y="4462272"/>
            <a:ext cx="29535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F4F4F0"/>
                </a:solidFill>
                <a:latin typeface="Inter"/>
              </a:defRPr>
            </a:pPr>
            <a:r>
              <a:t>Tích hợp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3608" y="4937760"/>
            <a:ext cx="2953512" cy="30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Email nền • AI • Bản đồ</a:t>
            </a:r>
          </a:p>
        </p:txBody>
      </p:sp>
      <p:pic>
        <p:nvPicPr>
          <p:cNvPr id="40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3774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22C55E"/>
                </a:solidFill>
                <a:latin typeface="Inter"/>
              </a:defRPr>
            </a:pPr>
            <a:r>
              <a:t>B1 / CORE FEATURES &amp; MAIN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Bốn vai trò, một luồng đặt trước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Mỗi vai trò làm gì và một đơn hàng đi qua hệ thống như thế nào.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6888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54864" cy="16002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66544"/>
            <a:ext cx="21031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4F4F0"/>
                </a:solidFill>
                <a:latin typeface="Inter"/>
              </a:defRPr>
            </a:pPr>
            <a:r>
              <a:t>GUEST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21031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Xem chợ, sạp, sản phẩm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Tìm kiếm và xem bản đồ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920240"/>
            <a:ext cx="246888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920240"/>
            <a:ext cx="54864" cy="1600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2066544"/>
            <a:ext cx="21031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4F4F0"/>
                </a:solidFill>
                <a:latin typeface="Inter"/>
              </a:defRPr>
            </a:pPr>
            <a:r>
              <a:t>KHÁCH HÀNG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487168"/>
            <a:ext cx="21031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Đặt trước và theo dõi đơn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Đánh giá sau khi nhận hàng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20240"/>
            <a:ext cx="246888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54864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2066544"/>
            <a:ext cx="21031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4F4F0"/>
                </a:solidFill>
                <a:latin typeface="Inter"/>
              </a:defRPr>
            </a:pPr>
            <a:r>
              <a:t>NÔNG DÂN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487168"/>
            <a:ext cx="21031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Quản lý sạp, sản phẩm, kho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Xác nhận và xử lý đơn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920240"/>
            <a:ext cx="246888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1120" y="1920240"/>
            <a:ext cx="54864" cy="1600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62288" y="2066544"/>
            <a:ext cx="21031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4F4F0"/>
                </a:solidFill>
                <a:latin typeface="Inter"/>
              </a:defRPr>
            </a:pPr>
            <a:r>
              <a:t>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487168"/>
            <a:ext cx="21031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Duyệt nông dân, quản lý chợ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Kiểm duyệt và xem báo cáo</a:t>
            </a:r>
          </a:p>
        </p:txBody>
      </p:sp>
      <p:sp>
        <p:nvSpPr>
          <p:cNvPr id="24" name="Flow Rounded Rectangle 7"/>
          <p:cNvSpPr/>
          <p:nvPr/>
        </p:nvSpPr>
        <p:spPr>
          <a:xfrm>
            <a:off x="594360" y="3840480"/>
            <a:ext cx="173736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low Rounded Rectangle 12"/>
          <p:cNvSpPr/>
          <p:nvPr/>
        </p:nvSpPr>
        <p:spPr>
          <a:xfrm>
            <a:off x="2907792" y="3840480"/>
            <a:ext cx="173736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low Rounded Rectangle 17"/>
          <p:cNvSpPr/>
          <p:nvPr/>
        </p:nvSpPr>
        <p:spPr>
          <a:xfrm>
            <a:off x="5221224" y="3840480"/>
            <a:ext cx="173736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low Rounded Rectangle 22"/>
          <p:cNvSpPr/>
          <p:nvPr/>
        </p:nvSpPr>
        <p:spPr>
          <a:xfrm>
            <a:off x="7534656" y="3840480"/>
            <a:ext cx="173736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low Rounded Rectangle 27"/>
          <p:cNvSpPr/>
          <p:nvPr/>
        </p:nvSpPr>
        <p:spPr>
          <a:xfrm>
            <a:off x="9848088" y="3840480"/>
            <a:ext cx="1737360" cy="16002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Flow TextBox 8"/>
          <p:cNvSpPr txBox="1"/>
          <p:nvPr/>
        </p:nvSpPr>
        <p:spPr>
          <a:xfrm>
            <a:off x="740664" y="4023360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86EFAC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30" name="Flow TextBox 9"/>
          <p:cNvSpPr txBox="1"/>
          <p:nvPr/>
        </p:nvSpPr>
        <p:spPr>
          <a:xfrm>
            <a:off x="740664" y="4416552"/>
            <a:ext cx="14813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4F4F0"/>
                </a:solidFill>
                <a:latin typeface="Inter"/>
              </a:defRPr>
            </a:pPr>
            <a:r>
              <a:t>TÌM KIẾM</a:t>
            </a:r>
          </a:p>
        </p:txBody>
      </p:sp>
      <p:sp>
        <p:nvSpPr>
          <p:cNvPr id="31" name="Flow TextBox 10"/>
          <p:cNvSpPr txBox="1"/>
          <p:nvPr/>
        </p:nvSpPr>
        <p:spPr>
          <a:xfrm>
            <a:off x="740664" y="4846320"/>
            <a:ext cx="14630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Chợ • sạp • sản phẩm</a:t>
            </a:r>
          </a:p>
        </p:txBody>
      </p:sp>
      <p:sp>
        <p:nvSpPr>
          <p:cNvPr id="32" name="Flow TextBox 11"/>
          <p:cNvSpPr txBox="1"/>
          <p:nvPr/>
        </p:nvSpPr>
        <p:spPr>
          <a:xfrm>
            <a:off x="2359152" y="4389120"/>
            <a:ext cx="43891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3" name="Flow TextBox 13"/>
          <p:cNvSpPr txBox="1"/>
          <p:nvPr/>
        </p:nvSpPr>
        <p:spPr>
          <a:xfrm>
            <a:off x="3054096" y="4023360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22C55E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34" name="Flow TextBox 14"/>
          <p:cNvSpPr txBox="1"/>
          <p:nvPr/>
        </p:nvSpPr>
        <p:spPr>
          <a:xfrm>
            <a:off x="3054096" y="4416552"/>
            <a:ext cx="14813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4F4F0"/>
                </a:solidFill>
                <a:latin typeface="Inter"/>
              </a:defRPr>
            </a:pPr>
            <a:r>
              <a:t>ĐẶT TRƯỚC</a:t>
            </a:r>
          </a:p>
        </p:txBody>
      </p:sp>
      <p:sp>
        <p:nvSpPr>
          <p:cNvPr id="35" name="Flow TextBox 15"/>
          <p:cNvSpPr txBox="1"/>
          <p:nvPr/>
        </p:nvSpPr>
        <p:spPr>
          <a:xfrm>
            <a:off x="3054096" y="4846320"/>
            <a:ext cx="14630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Ngày • khung giờ</a:t>
            </a:r>
          </a:p>
        </p:txBody>
      </p:sp>
      <p:sp>
        <p:nvSpPr>
          <p:cNvPr id="36" name="Flow TextBox 16"/>
          <p:cNvSpPr txBox="1"/>
          <p:nvPr/>
        </p:nvSpPr>
        <p:spPr>
          <a:xfrm>
            <a:off x="4672584" y="4389120"/>
            <a:ext cx="43891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7" name="Flow TextBox 18"/>
          <p:cNvSpPr txBox="1"/>
          <p:nvPr/>
        </p:nvSpPr>
        <p:spPr>
          <a:xfrm>
            <a:off x="5367528" y="4023360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59E0B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38" name="Flow TextBox 19"/>
          <p:cNvSpPr txBox="1"/>
          <p:nvPr/>
        </p:nvSpPr>
        <p:spPr>
          <a:xfrm>
            <a:off x="5367528" y="4416552"/>
            <a:ext cx="14813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4F4F0"/>
                </a:solidFill>
                <a:latin typeface="Inter"/>
              </a:defRPr>
            </a:pPr>
            <a:r>
              <a:t>XÁC NHẬN</a:t>
            </a:r>
          </a:p>
        </p:txBody>
      </p:sp>
      <p:sp>
        <p:nvSpPr>
          <p:cNvPr id="39" name="Flow TextBox 20"/>
          <p:cNvSpPr txBox="1"/>
          <p:nvPr/>
        </p:nvSpPr>
        <p:spPr>
          <a:xfrm>
            <a:off x="5367528" y="4846320"/>
            <a:ext cx="14630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Nông dân xử lý đơn</a:t>
            </a:r>
          </a:p>
        </p:txBody>
      </p:sp>
      <p:sp>
        <p:nvSpPr>
          <p:cNvPr id="40" name="Flow TextBox 21"/>
          <p:cNvSpPr txBox="1"/>
          <p:nvPr/>
        </p:nvSpPr>
        <p:spPr>
          <a:xfrm>
            <a:off x="6986016" y="4389120"/>
            <a:ext cx="43891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41" name="Flow TextBox 23"/>
          <p:cNvSpPr txBox="1"/>
          <p:nvPr/>
        </p:nvSpPr>
        <p:spPr>
          <a:xfrm>
            <a:off x="7680960" y="4023360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4ADE80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42" name="Flow TextBox 24"/>
          <p:cNvSpPr txBox="1"/>
          <p:nvPr/>
        </p:nvSpPr>
        <p:spPr>
          <a:xfrm>
            <a:off x="7680960" y="4416552"/>
            <a:ext cx="14813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4F4F0"/>
                </a:solidFill>
                <a:latin typeface="Inter"/>
              </a:defRPr>
            </a:pPr>
            <a:r>
              <a:t>NHẬN HÀNG</a:t>
            </a:r>
          </a:p>
        </p:txBody>
      </p:sp>
      <p:sp>
        <p:nvSpPr>
          <p:cNvPr id="43" name="Flow TextBox 25"/>
          <p:cNvSpPr txBox="1"/>
          <p:nvPr/>
        </p:nvSpPr>
        <p:spPr>
          <a:xfrm>
            <a:off x="7607808" y="4846320"/>
            <a:ext cx="162763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rPr lang="en-US"/>
              <a:t>Thanh toán </a:t>
            </a:r>
            <a:r>
              <a:t>Tại chợ / tại sạp</a:t>
            </a:r>
          </a:p>
        </p:txBody>
      </p:sp>
      <p:sp>
        <p:nvSpPr>
          <p:cNvPr id="44" name="Flow TextBox 26"/>
          <p:cNvSpPr txBox="1"/>
          <p:nvPr/>
        </p:nvSpPr>
        <p:spPr>
          <a:xfrm>
            <a:off x="9299448" y="4389120"/>
            <a:ext cx="43891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45" name="Flow TextBox 28"/>
          <p:cNvSpPr txBox="1"/>
          <p:nvPr/>
        </p:nvSpPr>
        <p:spPr>
          <a:xfrm>
            <a:off x="9994392" y="4023360"/>
            <a:ext cx="640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86EFAC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46" name="Flow TextBox 29"/>
          <p:cNvSpPr txBox="1"/>
          <p:nvPr/>
        </p:nvSpPr>
        <p:spPr>
          <a:xfrm>
            <a:off x="9994392" y="4416552"/>
            <a:ext cx="148132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1" i="0">
                <a:solidFill>
                  <a:srgbClr val="F4F4F0"/>
                </a:solidFill>
                <a:latin typeface="Inter"/>
              </a:defRPr>
            </a:pPr>
            <a:r>
              <a:t>ĐÁNH GIÁ</a:t>
            </a:r>
          </a:p>
        </p:txBody>
      </p:sp>
      <p:sp>
        <p:nvSpPr>
          <p:cNvPr id="47" name="Flow TextBox 30"/>
          <p:cNvSpPr txBox="1"/>
          <p:nvPr/>
        </p:nvSpPr>
        <p:spPr>
          <a:xfrm>
            <a:off x="9994392" y="4846320"/>
            <a:ext cx="14630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Phản hồi sau giao dịch</a:t>
            </a:r>
          </a:p>
        </p:txBody>
      </p:sp>
      <p:sp>
        <p:nvSpPr>
          <p:cNvPr id="48" name="Flow TextBox 31"/>
          <p:cNvSpPr txBox="1"/>
          <p:nvPr/>
        </p:nvSpPr>
        <p:spPr>
          <a:xfrm>
            <a:off x="914400" y="5715000"/>
            <a:ext cx="1024128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500" b="1" i="0">
                <a:solidFill>
                  <a:srgbClr val="4ADE80"/>
                </a:solidFill>
                <a:latin typeface="Inter"/>
              </a:defRPr>
            </a:pPr>
            <a:r>
              <a:t>Demo: khách đặt đơn → nông dân nhận thông báo ngay (realtime) → xác nhận → nhận hàng</a:t>
            </a:r>
          </a:p>
        </p:txBody>
      </p:sp>
      <p:pic>
        <p:nvPicPr>
          <p:cNvPr id="49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22C55E"/>
                </a:solidFill>
                <a:latin typeface="Inter"/>
              </a:defRPr>
            </a:pPr>
            <a:r>
              <a:t>B2 / AI EXTENSION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AI kiểm duyệt tin đăng &amp; đánh giá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Kiểm duyệt chủ động trước khi hiển thị công khai và hỗ trợ Admin hậu kiểm.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333756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54864" cy="21031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221992"/>
            <a:ext cx="29535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01 — LUẬT &amp; 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97480"/>
            <a:ext cx="2953512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Lớp luật kiểm tra khung giá, tồn kho; Gemini đọc chữ và ảnh để phát hiện vi phạm hoặc sai danh mục.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788920"/>
            <a:ext cx="502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4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057400"/>
            <a:ext cx="297180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17720" y="2057400"/>
            <a:ext cx="54864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8888" y="2221992"/>
            <a:ext cx="258775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02 — PHÂN LOẠI TỰ ĐỘNG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2697480"/>
            <a:ext cx="2587752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Tin sạch tự duyệt; tin nghi ngờ bị giữ lại. Đánh giá thô tục tự ẩn (Hidden by AI), lời chê thật vẫn giữ.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788920"/>
            <a:ext cx="5029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2400" b="1" i="0">
                <a:solidFill>
                  <a:srgbClr val="22C55E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057400"/>
            <a:ext cx="333756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79" y="2057400"/>
            <a:ext cx="54864" cy="21031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48" y="2221992"/>
            <a:ext cx="295351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03 — AI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697480"/>
            <a:ext cx="2953512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Admin hậu kiểm quyết định của AI, xem thống kê độ tin cậy 30 ngày và khôi phục (Restore) khi cần.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17720"/>
            <a:ext cx="10698480" cy="77724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4800600"/>
            <a:ext cx="102412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Giá trị: chặn nội dung xấu ngay từ đầu; khi AI không khả dụng, tin tự động chuyển về hàng chờ Admin.</a:t>
            </a:r>
          </a:p>
        </p:txBody>
      </p:sp>
      <p:pic>
        <p:nvPicPr>
          <p:cNvPr id="24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22C55E"/>
                </a:solidFill>
                <a:latin typeface="Inter"/>
              </a:defRPr>
            </a:pPr>
            <a:r>
              <a:t>B2 / AI EXTENSION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Trợ lý AI theo vai trò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Chatbot truy vấn dữ liệu nghiệp vụ thật thay vì chỉ trả lời kiến thức chung.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246120" cy="20574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20574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286207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KHÁCH HÀNG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2862072" cy="1307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“Đơn của tôi nhận lúc nào, ở đâu?” → Bot tra đúng đơn của chính khách: chợ, ngày, khung giờ.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057400"/>
            <a:ext cx="3246120" cy="20574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2057400"/>
            <a:ext cx="54864" cy="2057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2221992"/>
            <a:ext cx="286207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NÔNG DÂN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697480"/>
            <a:ext cx="2862072" cy="1307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“Món nào của tôi sắp hết hàng?” → Bot liệt kê hàng sắp hết, đã hết, đang chờ duyệt của sạp mình.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57400"/>
            <a:ext cx="3246120" cy="20574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057400"/>
            <a:ext cx="54864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2221992"/>
            <a:ext cx="286207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697480"/>
            <a:ext cx="2862072" cy="1307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“Hôm nay có gì đang chờ xử lý?” → Bot đếm sạp, sản phẩm chờ duyệt, cờ và khách rủi ro.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72000"/>
            <a:ext cx="104241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4ADE80"/>
                </a:solidFill>
                <a:latin typeface="Inter"/>
              </a:defRPr>
            </a:pPr>
            <a:r>
              <a:t>Cơ chế bảo vệ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074920"/>
            <a:ext cx="82296" cy="8229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4983480"/>
            <a:ext cx="491947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F4F4F0"/>
                </a:solidFill>
                <a:latin typeface="Inter"/>
              </a:defRPr>
            </a:pPr>
            <a:r>
              <a:t>Các công cụ truy vấn chỉ đọc; dữ liệu được lọc theo người hỏi.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5074920"/>
            <a:ext cx="82296" cy="8229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4983480"/>
            <a:ext cx="482803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F4F4F0"/>
                </a:solidFill>
                <a:latin typeface="Inter"/>
              </a:defRPr>
            </a:pPr>
            <a:r>
              <a:t>Kiểm tra quyền ở máy chủ; giới hạn lượt hỏi và có phương án dự phòng.</a:t>
            </a:r>
          </a:p>
        </p:txBody>
      </p:sp>
      <p:pic>
        <p:nvPicPr>
          <p:cNvPr id="25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3774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22C55E"/>
                </a:solidFill>
                <a:latin typeface="Inter"/>
              </a:defRPr>
            </a:pPr>
            <a:r>
              <a:t>B2 /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Bảo vệ tồn kho</a:t>
            </a:r>
            <a:r>
              <a:rPr lang="en-US"/>
              <a:t> -</a:t>
            </a:r>
            <a:r>
              <a:t> chống đặt trùng</a:t>
            </a:r>
            <a:r>
              <a:rPr lang="en-US"/>
              <a:t> - Lịch sử thay đổi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Giảm rủi ro bán vượt lượng hàng có và tạo đơn lặp khi kết nối không ổn định.</a:t>
            </a:r>
            <a:r>
              <a:rPr lang="en-US"/>
              <a:t> Truy vết lịch sử khi có tranh chấp.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51460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2103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21488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TẠM GIỮ HÀNG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2148840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Đơn mới giữ một lượng hàng; chấp nhận thì trừ kho thật, từ chối hoặc hết hạn thì nhả.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57400"/>
            <a:ext cx="251460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2057400"/>
            <a:ext cx="54864" cy="21031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2221992"/>
            <a:ext cx="21488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CHỐNG ĐẶT TRÙNG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697480"/>
            <a:ext cx="2148840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Idempotency-Key giúp gửi lại yêu cầu trong thời hạn lưu mà không tạo thêm đơn.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57400"/>
            <a:ext cx="251460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057400"/>
            <a:ext cx="54864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2221992"/>
            <a:ext cx="21488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ĐỒNG THỜI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697480"/>
            <a:ext cx="2148840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Transaction và khóa dòng bảo vệ thao tác cập nhật kho đồng thời.</a:t>
            </a:r>
          </a:p>
        </p:txBody>
      </p:sp>
      <p:sp>
        <p:nvSpPr>
          <p:cNvPr id="24" name="Audit Rounded Rectangle 15"/>
          <p:cNvSpPr/>
          <p:nvPr/>
        </p:nvSpPr>
        <p:spPr>
          <a:xfrm>
            <a:off x="8961120" y="2057400"/>
            <a:ext cx="251460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udit Rectangle 16"/>
          <p:cNvSpPr/>
          <p:nvPr/>
        </p:nvSpPr>
        <p:spPr>
          <a:xfrm>
            <a:off x="8961120" y="2057400"/>
            <a:ext cx="54864" cy="21031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udit TextBox 17"/>
          <p:cNvSpPr txBox="1"/>
          <p:nvPr/>
        </p:nvSpPr>
        <p:spPr>
          <a:xfrm>
            <a:off x="9162288" y="2221992"/>
            <a:ext cx="21488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4F4F0"/>
                </a:solidFill>
                <a:latin typeface="Inter"/>
              </a:defRPr>
            </a:pPr>
            <a:r>
              <a:t>AUDIT LOG &amp; LỊCH SỬ</a:t>
            </a:r>
          </a:p>
        </p:txBody>
      </p:sp>
      <p:sp>
        <p:nvSpPr>
          <p:cNvPr id="27" name="Audit TextBox 18"/>
          <p:cNvSpPr txBox="1"/>
          <p:nvPr/>
        </p:nvSpPr>
        <p:spPr>
          <a:xfrm>
            <a:off x="9162288" y="2697480"/>
            <a:ext cx="2148840" cy="105567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rPr lang="en-001" sz="1300"/>
              <a:t>Audit Log ghi mọi thao tác quản trị (ai, lúc nào, IP, lý do), kể cả khi AI tự ẩn đánh giá. Change History lưu sửa đổi từng trường (Cũ → Mới)</a:t>
            </a:r>
            <a: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572000"/>
            <a:ext cx="10149840" cy="91440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736592"/>
            <a:ext cx="9692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22C55E"/>
                </a:solidFill>
                <a:latin typeface="Inter"/>
              </a:defRPr>
            </a:pPr>
            <a:r>
              <a:t>VÍ DỤ TỒN KHO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029200"/>
            <a:ext cx="96926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800" b="1" i="0">
                <a:solidFill>
                  <a:srgbClr val="F4F4F0"/>
                </a:solidFill>
                <a:latin typeface="Inter"/>
              </a:defRPr>
            </a:pPr>
            <a:r>
              <a:t>Kho 30 kg  −  Khách A đặt 20 kg  =  Khách B còn tối đa 10 kg</a:t>
            </a:r>
          </a:p>
        </p:txBody>
      </p:sp>
      <p:pic>
        <p:nvPicPr>
          <p:cNvPr id="23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22C55E"/>
                </a:solidFill>
                <a:latin typeface="Inter"/>
              </a:defRPr>
            </a:pPr>
            <a:r>
              <a:t>B2 / BẢO VỆ GIAO DỊCH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700" b="1" i="0">
                <a:solidFill>
                  <a:srgbClr val="F4F4F0"/>
                </a:solidFill>
                <a:latin typeface="Inter"/>
              </a:defRPr>
            </a:pPr>
            <a:r>
              <a:t>Chống đặt ảo &amp; khóa khách bom hàng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9DB0A6"/>
                </a:solidFill>
                <a:latin typeface="Inter"/>
              </a:defRPr>
            </a:pPr>
            <a:r>
              <a:t>Bảo vệ nông dân trước rủi ro đặt ảo trong mô hình trả tiền mặt tại chợ (không đặt cọc).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640080" cy="411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1000" b="0" i="0">
                <a:solidFill>
                  <a:srgbClr val="9DB0A6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473952"/>
            <a:ext cx="47548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15468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2103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27706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CHẶN ĐẶT ẢO TỪ ĐẦU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2770632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Tối đa 10 đơn chờ duyệt cùng lúc và 10 lần đặt mỗi giờ cho mỗi khách.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057400"/>
            <a:ext cx="315468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2057400"/>
            <a:ext cx="54864" cy="21031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2221992"/>
            <a:ext cx="27706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KHÁCH KHÔNG ĐẾN NHẬN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697480"/>
            <a:ext cx="2770632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Khách không đến, nông dân bấm No-show: hàng tự quay lại kho để bán cho người khác.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057400"/>
            <a:ext cx="3154680" cy="210312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2057400"/>
            <a:ext cx="54864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208" y="2221992"/>
            <a:ext cx="27706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TỰ ĐỘNG KHÓA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697480"/>
            <a:ext cx="2770632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9DB0A6"/>
                </a:solidFill>
                <a:latin typeface="Inter"/>
              </a:defRPr>
            </a:pPr>
            <a:r>
              <a:t>3 lần không đến trong 30 ngày: tự khóa tài khoản và hủy các đơn đang mở.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572000"/>
            <a:ext cx="10149840" cy="914400"/>
          </a:xfrm>
          <a:prstGeom prst="roundRect">
            <a:avLst/>
          </a:prstGeom>
          <a:solidFill>
            <a:srgbClr val="1A2E24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736592"/>
            <a:ext cx="9692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22C55E"/>
                </a:solidFill>
                <a:latin typeface="Inter"/>
              </a:defRPr>
            </a:pPr>
            <a:r>
              <a:t>VÍ DỤ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029200"/>
            <a:ext cx="96926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800" b="1" i="0">
                <a:solidFill>
                  <a:srgbClr val="F4F4F0"/>
                </a:solidFill>
                <a:latin typeface="Inter"/>
              </a:defRPr>
            </a:pPr>
            <a:r>
              <a:t>Khách đặt 5 kg rau rồi không đến  →  No-show  →  5 kg quay lại kho ngay</a:t>
            </a:r>
          </a:p>
        </p:txBody>
      </p:sp>
      <p:pic>
        <p:nvPicPr>
          <p:cNvPr id="23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455664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2286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22C55E"/>
                </a:solidFill>
                <a:latin typeface="Inter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4F4F0"/>
                </a:solidFill>
                <a:latin typeface="Inter"/>
              </a:defRPr>
            </a:pPr>
            <a:r>
              <a:t>MarketLink: từ đặt hàng đến vận hành đáng tin cậy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28800"/>
            <a:ext cx="6400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3383280" cy="18288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54864" cy="18288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2496312"/>
            <a:ext cx="29992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01 — VẬN HÀNH THỰC TẾ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971800"/>
            <a:ext cx="2999232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Kết nối người mua, nông dân và Admin trong quy trình đặt trước, nhận hàng và trả tiền mặt tại chợ.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31720"/>
            <a:ext cx="3383280" cy="18288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2331720"/>
            <a:ext cx="54864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2496312"/>
            <a:ext cx="29992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02 — AI CÓ KIỂM SOÁT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971800"/>
            <a:ext cx="2999232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Kiểm duyệt 2 lớp (Luật + Gemini) có hậu kiểm và trợ lý AI truy vấn dữ liệu thật theo quyền.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331720"/>
            <a:ext cx="3383280" cy="1828800"/>
          </a:xfrm>
          <a:prstGeom prst="roundRect">
            <a:avLst/>
          </a:prstGeom>
          <a:solidFill>
            <a:srgbClr val="15241C"/>
          </a:solidFill>
          <a:ln w="12700">
            <a:solidFill>
              <a:srgbClr val="24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2331720"/>
            <a:ext cx="54864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2496312"/>
            <a:ext cx="2999232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F4F4F0"/>
                </a:solidFill>
                <a:latin typeface="Inter"/>
              </a:defRPr>
            </a:pPr>
            <a:r>
              <a:t>03 — ĐÁNG TIN CẬY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971800"/>
            <a:ext cx="2999232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9DB0A6"/>
                </a:solidFill>
                <a:latin typeface="Inter"/>
              </a:defRPr>
            </a:pPr>
            <a:r>
              <a:t>Không bán vượt kho, bấm 2 lần không ra 2 đơn, chống đặt ảo và khóa khách bom hàng.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34840"/>
            <a:ext cx="1078992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DCE5DF"/>
                </a:solidFill>
                <a:latin typeface="Inter"/>
              </a:defRPr>
            </a:pPr>
            <a:r>
              <a:rPr lang="vi-VN" b="1">
                <a:solidFill>
                  <a:srgbClr val="4ADE80"/>
                </a:solidFill>
              </a:rPr>
              <a:t>Một số tính năng mở rộng khác:  </a:t>
            </a:r>
            <a:r>
              <a:rPr lang="en-US"/>
              <a:t>(Khách mua) </a:t>
            </a:r>
            <a:r>
              <a:t>yêu cầu thay đổi đơn • </a:t>
            </a:r>
            <a:r>
              <a:rPr lang="en-US"/>
              <a:t>(Nông Dân) </a:t>
            </a:r>
            <a:r>
              <a:t>bỏ món hết h</a:t>
            </a:r>
            <a:r>
              <a:rPr lang="en-US"/>
              <a:t>à</a:t>
            </a:r>
            <a:r>
              <a:t>ng</a:t>
            </a:r>
            <a:r>
              <a:rPr lang="en-US"/>
              <a:t> •</a:t>
            </a:r>
            <a:r>
              <a:t> </a:t>
            </a:r>
            <a:r>
              <a:rPr lang="en-US" sz="1100">
                <a:solidFill>
                  <a:srgbClr val="DCE5DF"/>
                </a:solidFill>
                <a:latin typeface="Inter"/>
              </a:rPr>
              <a:t>(</a:t>
            </a:r>
            <a:r>
              <a:rPr lang="en-US"/>
              <a:t>Admin) đóng chợ khẩn cấp </a:t>
            </a:r>
            <a:endParaRPr/>
          </a:p>
        </p:txBody>
      </p:sp>
      <p:sp>
        <p:nvSpPr>
          <p:cNvPr id="99" name="TextBox Thanks"/>
          <p:cNvSpPr txBox="1"/>
          <p:nvPr/>
        </p:nvSpPr>
        <p:spPr>
          <a:xfrm>
            <a:off x="822960" y="5212080"/>
            <a:ext cx="10424160" cy="3477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600"/>
              </a:spcAft>
              <a:defRPr sz="1900" b="1" i="0">
                <a:solidFill>
                  <a:srgbClr val="4ADE80"/>
                </a:solidFill>
                <a:latin typeface="Inter"/>
              </a:defRPr>
            </a:pPr>
            <a:r>
              <a:t>Xin cảm ơn Hội đồng.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080760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600"/>
              </a:spcAft>
              <a:defRPr sz="800" b="0" i="0">
                <a:solidFill>
                  <a:srgbClr val="9DB0A6"/>
                </a:solidFill>
                <a:latin typeface="Inter"/>
              </a:defRPr>
            </a:pPr>
            <a:r>
              <a:t>MARKETLINK  /  PROJECT DEFENSE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600"/>
              </a:spcAft>
              <a:defRPr sz="900" b="0" i="0">
                <a:solidFill>
                  <a:srgbClr val="9DB0A6"/>
                </a:solidFill>
                <a:latin typeface="Inter"/>
              </a:defRPr>
            </a:pPr>
            <a:r>
              <a:t>09 / 09</a:t>
            </a:r>
          </a:p>
        </p:txBody>
      </p:sp>
      <p:pic>
        <p:nvPicPr>
          <p:cNvPr id="100" name="Footer Logo" descr="MarketLink baske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062472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1566</Words>
  <Application>Microsoft Office PowerPoint</Application>
  <PresentationFormat>Widescreen</PresentationFormat>
  <Paragraphs>157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Long Nguyen</cp:lastModifiedBy>
  <cp:revision>12</cp:revision>
  <dcterms:created xsi:type="dcterms:W3CDTF">2013-01-27T09:14:16Z</dcterms:created>
  <dcterms:modified xsi:type="dcterms:W3CDTF">2026-10-28T13:37:02Z</dcterms:modified>
  <cp:category/>
</cp:coreProperties>
</file>