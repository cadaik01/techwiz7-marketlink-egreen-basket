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1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15–20 seconds. Fill in the team members and the official project details before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40 seconds. Present the problem from the buyer and farmer side, then state the scope: no online payment, no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60–70 seconds. Explain why React, Django, MySQL/InnoDB, Redis and Gemini fit the business needs. Do not read out every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90 seconds including the demo. Briefly name the 4 roles, then demo one order: customer places it → the farmer screen shows a notification instantly (realtime) → farmer accepts → ready. Use prepared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60–70 seconds. Demo one normal listing and one suspicious listing; stress that AI is a support layer with an Admin review flow. Only mention what works in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Demo at most 2 questions in the right role. Stress: the bot uses real data through 7 read-only tools, and each user only sees their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70 seconds. 30 kg example: A orders 20 kg, so B can order at most 10 kg and the site shows "Only 10 KG left". Pressing Order twice on a flaky connection still creates only 1 order (Idempotency-Key stored in Redis). Keep transactions and row locks for in-depth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Cash on pickup, no deposit → an abandoned order is a direct loss for the farmer. Present 3 layers: order limits, No-show returns stock, 3 times in 30 days locks the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20–30 seconds. Close with the 3 values, skim the "other extended features" line so the panel knows there is more to ask about, then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641080" y="-411480"/>
            <a:ext cx="4023360" cy="402336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46920" y="658368"/>
            <a:ext cx="2011680" cy="2011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0" y="3383280"/>
            <a:ext cx="3566160" cy="2194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3600" b="1"/>
              <a:t>Local markets, reserved for you</a:t>
            </a:r>
          </a:p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99516"/>
            <a:ext cx="685800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4200" b="1" i="0">
                <a:solidFill>
                  <a:srgbClr val="F4F4F0"/>
                </a:solidFill>
                <a:latin typeface="Inter"/>
              </a:defRPr>
            </a:pPr>
            <a:r>
              <a:t>MarketLink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69948"/>
            <a:ext cx="676656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Connecting buyers with farmers</a:t>
            </a:r>
          </a:p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in the traditional market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45536"/>
            <a:ext cx="62179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Online pre-order  •  Farmer confirms  •  Pick up at the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64508"/>
            <a:ext cx="205740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183380"/>
            <a:ext cx="182880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0F1A14"/>
                </a:solidFill>
                <a:latin typeface="Inter"/>
              </a:defRPr>
            </a:pPr>
            <a:r>
              <a:rPr lang="en-US"/>
              <a:t>Techwiz 7 - Project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61320" y="6236208"/>
            <a:ext cx="91440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rPr lang="en-US"/>
              <a:t>01</a:t>
            </a:r>
            <a:endParaRPr/>
          </a:p>
        </p:txBody>
      </p:sp>
      <p:pic>
        <p:nvPicPr>
          <p:cNvPr id="14" name="Title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024128"/>
            <a:ext cx="1280160" cy="1280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C97219-5722-AEE9-3455-97DBFE7F99AF}"/>
              </a:ext>
            </a:extLst>
          </p:cNvPr>
          <p:cNvSpPr txBox="1"/>
          <p:nvPr/>
        </p:nvSpPr>
        <p:spPr>
          <a:xfrm>
            <a:off x="182880" y="5188899"/>
            <a:ext cx="7013448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rPr lang="en-US" sz="2000"/>
              <a:t>FPT BitForge - Team members</a:t>
            </a:r>
            <a:br>
              <a:rPr lang="en-US" sz="2000"/>
            </a:br>
            <a:r>
              <a:rPr lang="en-US" sz="2000"/>
              <a:t>Nguyễn Đức Long  - Tăng Huỳnh Tuấn Tú  - Trần Lê Minh Anh Nguyễn Khánh Danh - Phạm Kim Nghi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MarketLink focuses on closing the information gap between buyers and farmers.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24231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Hard to find the right market, know which stall sells what they need, and plan their pickup.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FARMERS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No channel to show products by selling schedule or take orders before customers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54864" cy="2423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A digital flow: find produce → pre-order → confirm → pick up and pay at the stall.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Scope: search and pre-ordering; no online payment or delivery.</a:t>
            </a:r>
          </a:p>
        </p:txBody>
      </p:sp>
      <p:pic>
        <p:nvPicPr>
          <p:cNvPr id="21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Solution and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An architecture that separates the interface, business logic, data and supporting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pic>
        <p:nvPicPr>
          <p:cNvPr id="4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  <p:sp>
        <p:nvSpPr>
          <p:cNvPr id="201" name="Node Vercel"/>
          <p:cNvSpPr/>
          <p:nvPr/>
        </p:nvSpPr>
        <p:spPr>
          <a:xfrm>
            <a:off x="594360" y="2331720"/>
            <a:ext cx="2788920" cy="2286000"/>
          </a:xfrm>
          <a:prstGeom prst="cube">
            <a:avLst>
              <a:gd name="adj" fmla="val 6400"/>
            </a:avLst>
          </a:prstGeom>
          <a:solidFill>
            <a:srgbClr val="15241C"/>
          </a:solidFill>
          <a:ln w="15875">
            <a:solidFill>
              <a:srgbClr val="243D32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02" name="rect 202"/>
          <p:cNvSpPr txBox="1"/>
          <p:nvPr/>
        </p:nvSpPr>
        <p:spPr>
          <a:xfrm>
            <a:off x="731520" y="2587752"/>
            <a:ext cx="23682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4ADE80"/>
                </a:solidFill>
                <a:latin typeface="Inter"/>
                <a:cs typeface="Inter"/>
              </a:rPr>
              <a:t>Vercel</a:t>
            </a:r>
            <a:endParaRPr lang="en-US" sz="950" dirty="0"/>
          </a:p>
        </p:txBody>
      </p:sp>
      <p:sp>
        <p:nvSpPr>
          <p:cNvPr id="203" name="Component Frontend"/>
          <p:cNvSpPr/>
          <p:nvPr/>
        </p:nvSpPr>
        <p:spPr>
          <a:xfrm>
            <a:off x="777240" y="3063240"/>
            <a:ext cx="2258568" cy="1097280"/>
          </a:xfrm>
          <a:prstGeom prst="rect">
            <a:avLst/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04" name="UML component icon"/>
          <p:cNvSpPr/>
          <p:nvPr/>
        </p:nvSpPr>
        <p:spPr>
          <a:xfrm>
            <a:off x="2761488" y="3172968"/>
            <a:ext cx="155448" cy="155448"/>
          </a:xfrm>
          <a:prstGeom prst="rect">
            <a:avLst/>
          </a:prstGeom>
          <a:noFill/>
          <a:ln w="11430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05" name="UML component icon tab"/>
          <p:cNvSpPr/>
          <p:nvPr/>
        </p:nvSpPr>
        <p:spPr>
          <a:xfrm>
            <a:off x="2715768" y="3200400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06" name="UML component icon tab"/>
          <p:cNvSpPr/>
          <p:nvPr/>
        </p:nvSpPr>
        <p:spPr>
          <a:xfrm>
            <a:off x="2715768" y="3264408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08" name="rect 208"/>
          <p:cNvSpPr txBox="1"/>
          <p:nvPr/>
        </p:nvSpPr>
        <p:spPr>
          <a:xfrm>
            <a:off x="914400" y="33558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F4F4F0"/>
                </a:solidFill>
                <a:latin typeface="Inter"/>
                <a:cs typeface="Inter"/>
              </a:rPr>
              <a:t>FRONTEND</a:t>
            </a:r>
            <a:endParaRPr lang="en-US" sz="1400" dirty="0"/>
          </a:p>
        </p:txBody>
      </p:sp>
      <p:sp>
        <p:nvSpPr>
          <p:cNvPr id="209" name="rect 209"/>
          <p:cNvSpPr txBox="1"/>
          <p:nvPr/>
        </p:nvSpPr>
        <p:spPr>
          <a:xfrm>
            <a:off x="914400" y="364845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React 19 + Vite</a:t>
            </a:r>
            <a:endParaRPr lang="en-US" sz="1200" dirty="0"/>
          </a:p>
        </p:txBody>
      </p:sp>
      <p:sp>
        <p:nvSpPr>
          <p:cNvPr id="210" name="Node Render"/>
          <p:cNvSpPr/>
          <p:nvPr/>
        </p:nvSpPr>
        <p:spPr>
          <a:xfrm>
            <a:off x="3840480" y="1874520"/>
            <a:ext cx="4206240" cy="4114800"/>
          </a:xfrm>
          <a:prstGeom prst="cube">
            <a:avLst>
              <a:gd name="adj" fmla="val 3555"/>
            </a:avLst>
          </a:prstGeom>
          <a:solidFill>
            <a:srgbClr val="15241C"/>
          </a:solidFill>
          <a:ln w="15875">
            <a:solidFill>
              <a:srgbClr val="243D32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11" name="rect 211"/>
          <p:cNvSpPr txBox="1"/>
          <p:nvPr/>
        </p:nvSpPr>
        <p:spPr>
          <a:xfrm>
            <a:off x="3977640" y="2112264"/>
            <a:ext cx="37856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>
                <a:solidFill>
                  <a:srgbClr val="4ADE80"/>
                </a:solidFill>
                <a:latin typeface="Inter"/>
                <a:cs typeface="Inter"/>
              </a:rPr>
              <a:t>Render</a:t>
            </a:r>
            <a:endParaRPr lang="en-US" sz="950" dirty="0"/>
          </a:p>
        </p:txBody>
      </p:sp>
      <p:sp>
        <p:nvSpPr>
          <p:cNvPr id="212" name="Component Backend"/>
          <p:cNvSpPr/>
          <p:nvPr/>
        </p:nvSpPr>
        <p:spPr>
          <a:xfrm>
            <a:off x="4023360" y="2606040"/>
            <a:ext cx="3675888" cy="3200400"/>
          </a:xfrm>
          <a:prstGeom prst="rect">
            <a:avLst/>
          </a:prstGeom>
          <a:solidFill>
            <a:srgbClr val="1A2E24"/>
          </a:solidFill>
          <a:ln w="15875">
            <a:solidFill>
              <a:srgbClr val="22C55E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13" name="UML component icon"/>
          <p:cNvSpPr/>
          <p:nvPr/>
        </p:nvSpPr>
        <p:spPr>
          <a:xfrm>
            <a:off x="7424928" y="2715768"/>
            <a:ext cx="155448" cy="155448"/>
          </a:xfrm>
          <a:prstGeom prst="rect">
            <a:avLst/>
          </a:prstGeom>
          <a:noFill/>
          <a:ln w="11430">
            <a:solidFill>
              <a:srgbClr val="22C55E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14" name="UML component icon tab"/>
          <p:cNvSpPr/>
          <p:nvPr/>
        </p:nvSpPr>
        <p:spPr>
          <a:xfrm>
            <a:off x="7379208" y="2743200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22C55E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15" name="UML component icon tab"/>
          <p:cNvSpPr/>
          <p:nvPr/>
        </p:nvSpPr>
        <p:spPr>
          <a:xfrm>
            <a:off x="7379208" y="2807208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22C55E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17" name="rect 217"/>
          <p:cNvSpPr txBox="1"/>
          <p:nvPr/>
        </p:nvSpPr>
        <p:spPr>
          <a:xfrm>
            <a:off x="4160520" y="28803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F4F4F0"/>
                </a:solidFill>
                <a:latin typeface="Inter"/>
                <a:cs typeface="Inter"/>
              </a:rPr>
              <a:t>BACKEND</a:t>
            </a:r>
            <a:endParaRPr lang="en-US" sz="1400" dirty="0"/>
          </a:p>
        </p:txBody>
      </p:sp>
      <p:sp>
        <p:nvSpPr>
          <p:cNvPr id="218" name="rect 218"/>
          <p:cNvSpPr txBox="1"/>
          <p:nvPr/>
        </p:nvSpPr>
        <p:spPr>
          <a:xfrm>
            <a:off x="4160520" y="31729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Django REST + WebSocket</a:t>
            </a:r>
            <a:endParaRPr lang="en-US" sz="1200" dirty="0"/>
          </a:p>
        </p:txBody>
      </p:sp>
      <p:sp>
        <p:nvSpPr>
          <p:cNvPr id="219" name="Component Business logic"/>
          <p:cNvSpPr/>
          <p:nvPr/>
        </p:nvSpPr>
        <p:spPr>
          <a:xfrm>
            <a:off x="4206240" y="3520440"/>
            <a:ext cx="3310128" cy="914400"/>
          </a:xfrm>
          <a:prstGeom prst="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0" name="UML component icon"/>
          <p:cNvSpPr/>
          <p:nvPr/>
        </p:nvSpPr>
        <p:spPr>
          <a:xfrm>
            <a:off x="7260336" y="3611880"/>
            <a:ext cx="155448" cy="155448"/>
          </a:xfrm>
          <a:prstGeom prst="rect">
            <a:avLst/>
          </a:prstGeom>
          <a:noFill/>
          <a:ln w="11430">
            <a:solidFill>
              <a:srgbClr val="9DB0A6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1" name="UML component icon tab"/>
          <p:cNvSpPr/>
          <p:nvPr/>
        </p:nvSpPr>
        <p:spPr>
          <a:xfrm>
            <a:off x="7214616" y="3639312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9DB0A6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2" name="UML component icon tab"/>
          <p:cNvSpPr/>
          <p:nvPr/>
        </p:nvSpPr>
        <p:spPr>
          <a:xfrm>
            <a:off x="7214616" y="3703320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9DB0A6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4" name="rect 224"/>
          <p:cNvSpPr txBox="1"/>
          <p:nvPr/>
        </p:nvSpPr>
        <p:spPr>
          <a:xfrm>
            <a:off x="4343400" y="37673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 dirty="0">
                <a:solidFill>
                  <a:srgbClr val="F4F4F0"/>
                </a:solidFill>
                <a:latin typeface="Inter"/>
                <a:cs typeface="Inter"/>
              </a:rPr>
              <a:t>Business logic</a:t>
            </a:r>
            <a:endParaRPr lang="en-US" sz="1300" dirty="0"/>
          </a:p>
        </p:txBody>
      </p:sp>
      <p:sp>
        <p:nvSpPr>
          <p:cNvPr id="225" name="rect 225"/>
          <p:cNvSpPr txBox="1"/>
          <p:nvPr/>
        </p:nvSpPr>
        <p:spPr>
          <a:xfrm>
            <a:off x="4343400" y="40599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Service / Selector</a:t>
            </a:r>
            <a:endParaRPr lang="en-US" sz="1200" dirty="0"/>
          </a:p>
        </p:txBody>
      </p:sp>
      <p:sp>
        <p:nvSpPr>
          <p:cNvPr id="226" name="Component Integrations"/>
          <p:cNvSpPr/>
          <p:nvPr/>
        </p:nvSpPr>
        <p:spPr>
          <a:xfrm>
            <a:off x="4206240" y="4617720"/>
            <a:ext cx="3310128" cy="1005840"/>
          </a:xfrm>
          <a:prstGeom prst="rect">
            <a:avLst/>
          </a:prstGeom>
          <a:solidFill>
            <a:srgbClr val="15241C"/>
          </a:solidFill>
          <a:ln w="12700">
            <a:solidFill>
              <a:srgbClr val="F59E0B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7" name="UML component icon"/>
          <p:cNvSpPr/>
          <p:nvPr/>
        </p:nvSpPr>
        <p:spPr>
          <a:xfrm>
            <a:off x="7260336" y="4709160"/>
            <a:ext cx="155448" cy="155448"/>
          </a:xfrm>
          <a:prstGeom prst="rect">
            <a:avLst/>
          </a:prstGeom>
          <a:noFill/>
          <a:ln w="11430">
            <a:solidFill>
              <a:srgbClr val="F59E0B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8" name="UML component icon tab"/>
          <p:cNvSpPr/>
          <p:nvPr/>
        </p:nvSpPr>
        <p:spPr>
          <a:xfrm>
            <a:off x="7214616" y="4736592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F59E0B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29" name="UML component icon tab"/>
          <p:cNvSpPr/>
          <p:nvPr/>
        </p:nvSpPr>
        <p:spPr>
          <a:xfrm>
            <a:off x="7214616" y="4800600"/>
            <a:ext cx="91440" cy="41148"/>
          </a:xfrm>
          <a:prstGeom prst="rect">
            <a:avLst/>
          </a:prstGeom>
          <a:solidFill>
            <a:srgbClr val="15241C"/>
          </a:solidFill>
          <a:ln w="11430">
            <a:solidFill>
              <a:srgbClr val="F59E0B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31" name="rect 231"/>
          <p:cNvSpPr txBox="1"/>
          <p:nvPr/>
        </p:nvSpPr>
        <p:spPr>
          <a:xfrm>
            <a:off x="4343400" y="4864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300" b="1" i="0" dirty="0">
                <a:solidFill>
                  <a:srgbClr val="F4F4F0"/>
                </a:solidFill>
                <a:latin typeface="Inter"/>
                <a:cs typeface="Inter"/>
              </a:rPr>
              <a:t>Integrations</a:t>
            </a:r>
            <a:endParaRPr lang="en-US" sz="1300" dirty="0"/>
          </a:p>
        </p:txBody>
      </p:sp>
      <p:sp>
        <p:nvSpPr>
          <p:cNvPr id="232" name="rect 232"/>
          <p:cNvSpPr txBox="1"/>
          <p:nvPr/>
        </p:nvSpPr>
        <p:spPr>
          <a:xfrm>
            <a:off x="4343400" y="5157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Background email • AI • Maps</a:t>
            </a:r>
            <a:endParaRPr lang="en-US" sz="1200" dirty="0"/>
          </a:p>
        </p:txBody>
      </p:sp>
      <p:sp>
        <p:nvSpPr>
          <p:cNvPr id="233" name="Node Data"/>
          <p:cNvSpPr/>
          <p:nvPr/>
        </p:nvSpPr>
        <p:spPr>
          <a:xfrm>
            <a:off x="8641080" y="1874520"/>
            <a:ext cx="2971800" cy="1280160"/>
          </a:xfrm>
          <a:prstGeom prst="cube">
            <a:avLst>
              <a:gd name="adj" fmla="val 11428"/>
            </a:avLst>
          </a:prstGeom>
          <a:solidFill>
            <a:srgbClr val="15241C"/>
          </a:solidFill>
          <a:ln w="15875">
            <a:solidFill>
              <a:srgbClr val="F59E0B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35" name="rect 235"/>
          <p:cNvSpPr txBox="1"/>
          <p:nvPr/>
        </p:nvSpPr>
        <p:spPr>
          <a:xfrm>
            <a:off x="8778240" y="2276856"/>
            <a:ext cx="25511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F4F4F0"/>
                </a:solidFill>
                <a:latin typeface="Inter"/>
                <a:cs typeface="Inter"/>
              </a:rPr>
              <a:t>DATA</a:t>
            </a:r>
            <a:endParaRPr lang="en-US" sz="1400" dirty="0"/>
          </a:p>
        </p:txBody>
      </p:sp>
      <p:sp>
        <p:nvSpPr>
          <p:cNvPr id="236" name="rect 236"/>
          <p:cNvSpPr txBox="1"/>
          <p:nvPr/>
        </p:nvSpPr>
        <p:spPr>
          <a:xfrm>
            <a:off x="8778240" y="2569464"/>
            <a:ext cx="2551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MySQL 8 / InnoDB</a:t>
            </a:r>
            <a:endParaRPr lang="en-US" sz="1200" dirty="0"/>
          </a:p>
        </p:txBody>
      </p:sp>
      <p:sp>
        <p:nvSpPr>
          <p:cNvPr id="237" name="Node Redis"/>
          <p:cNvSpPr/>
          <p:nvPr/>
        </p:nvSpPr>
        <p:spPr>
          <a:xfrm>
            <a:off x="8641080" y="3291840"/>
            <a:ext cx="2971800" cy="1280160"/>
          </a:xfrm>
          <a:prstGeom prst="cube">
            <a:avLst>
              <a:gd name="adj" fmla="val 11428"/>
            </a:avLst>
          </a:prstGeom>
          <a:solidFill>
            <a:srgbClr val="15241C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39" name="rect 239"/>
          <p:cNvSpPr txBox="1"/>
          <p:nvPr/>
        </p:nvSpPr>
        <p:spPr>
          <a:xfrm>
            <a:off x="8778240" y="3694176"/>
            <a:ext cx="25511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F4F4F0"/>
                </a:solidFill>
                <a:latin typeface="Inter"/>
                <a:cs typeface="Inter"/>
              </a:rPr>
              <a:t>Redis</a:t>
            </a:r>
            <a:endParaRPr lang="en-US" sz="1400" dirty="0"/>
          </a:p>
        </p:txBody>
      </p:sp>
      <p:sp>
        <p:nvSpPr>
          <p:cNvPr id="240" name="rect 240"/>
          <p:cNvSpPr txBox="1"/>
          <p:nvPr/>
        </p:nvSpPr>
        <p:spPr>
          <a:xfrm>
            <a:off x="8778240" y="3986784"/>
            <a:ext cx="2551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00" b="0" i="0" dirty="0">
                <a:solidFill>
                  <a:srgbClr val="9DB0A6"/>
                </a:solidFill>
                <a:latin typeface="Inter"/>
                <a:cs typeface="Inter"/>
              </a:rPr>
              <a:t>realtime notifications • rate limits • session management</a:t>
            </a:r>
            <a:endParaRPr lang="en-US" sz="1100" dirty="0"/>
          </a:p>
        </p:txBody>
      </p:sp>
      <p:sp>
        <p:nvSpPr>
          <p:cNvPr id="241" name="Node AI service"/>
          <p:cNvSpPr/>
          <p:nvPr/>
        </p:nvSpPr>
        <p:spPr>
          <a:xfrm>
            <a:off x="8641080" y="4709160"/>
            <a:ext cx="2971800" cy="1280160"/>
          </a:xfrm>
          <a:prstGeom prst="cube">
            <a:avLst>
              <a:gd name="adj" fmla="val 11428"/>
            </a:avLst>
          </a:prstGeom>
          <a:solidFill>
            <a:srgbClr val="15241C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43" name="rect 243"/>
          <p:cNvSpPr txBox="1"/>
          <p:nvPr/>
        </p:nvSpPr>
        <p:spPr>
          <a:xfrm>
            <a:off x="8778240" y="5111496"/>
            <a:ext cx="255117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 dirty="0">
                <a:solidFill>
                  <a:srgbClr val="F4F4F0"/>
                </a:solidFill>
                <a:latin typeface="Inter"/>
                <a:cs typeface="Inter"/>
              </a:rPr>
              <a:t>AI SERVICE</a:t>
            </a:r>
            <a:endParaRPr lang="en-US" sz="1400" dirty="0"/>
          </a:p>
        </p:txBody>
      </p:sp>
      <p:sp>
        <p:nvSpPr>
          <p:cNvPr id="244" name="rect 244"/>
          <p:cNvSpPr txBox="1"/>
          <p:nvPr/>
        </p:nvSpPr>
        <p:spPr>
          <a:xfrm>
            <a:off x="8778240" y="5404104"/>
            <a:ext cx="2551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0" i="0" dirty="0">
                <a:solidFill>
                  <a:srgbClr val="9DB0A6"/>
                </a:solidFill>
                <a:latin typeface="Inter"/>
                <a:cs typeface="Inter"/>
              </a:rPr>
              <a:t>Gemini</a:t>
            </a:r>
            <a:endParaRPr lang="en-US" sz="1200" dirty="0"/>
          </a:p>
        </p:txBody>
      </p:sp>
      <p:cxnSp>
        <p:nvCxnSpPr>
          <p:cNvPr id="245" name="Dependency Frontend-Backend"/>
          <p:cNvCxnSpPr/>
          <p:nvPr/>
        </p:nvCxnSpPr>
        <p:spPr>
          <a:xfrm>
            <a:off x="3035808" y="3611880"/>
            <a:ext cx="987552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arrow" w="med" len="med"/>
          </a:ln>
        </p:spPr>
      </p:cxnSp>
      <p:cxnSp>
        <p:nvCxnSpPr>
          <p:cNvPr id="246" name="Dependency Backend-Data"/>
          <p:cNvCxnSpPr/>
          <p:nvPr/>
        </p:nvCxnSpPr>
        <p:spPr>
          <a:xfrm>
            <a:off x="7699248" y="2697480"/>
            <a:ext cx="941832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arrow" w="med" len="med"/>
          </a:ln>
        </p:spPr>
      </p:cxnSp>
      <p:cxnSp>
        <p:nvCxnSpPr>
          <p:cNvPr id="247" name="Dependency Backend-Redis"/>
          <p:cNvCxnSpPr/>
          <p:nvPr/>
        </p:nvCxnSpPr>
        <p:spPr>
          <a:xfrm>
            <a:off x="7699248" y="4023360"/>
            <a:ext cx="941832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arrow" w="med" len="med"/>
          </a:ln>
        </p:spPr>
      </p:cxnSp>
      <p:cxnSp>
        <p:nvCxnSpPr>
          <p:cNvPr id="248" name="Dependency Integrations-AI"/>
          <p:cNvCxnSpPr/>
          <p:nvPr/>
        </p:nvCxnSpPr>
        <p:spPr>
          <a:xfrm>
            <a:off x="7516368" y="5303520"/>
            <a:ext cx="1124712" cy="0"/>
          </a:xfrm>
          <a:prstGeom prst="line">
            <a:avLst/>
          </a:prstGeom>
          <a:ln w="19050">
            <a:solidFill>
              <a:srgbClr val="4ADE80"/>
            </a:solidFill>
            <a:prstDash val="dash"/>
            <a:tailEnd type="arrow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Four roles, one pre-order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What each role does and how an order moves through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4864" cy="16002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GUEST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Browse markets, stalls, products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Search and view the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54864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Pre-order and track orders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Review after pickup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FARMER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Manage stall, products, stock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Confirm and process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54864" cy="1600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Approve farmers, manage markets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Moderate content and view reports</a:t>
            </a:r>
          </a:p>
        </p:txBody>
      </p:sp>
      <p:sp>
        <p:nvSpPr>
          <p:cNvPr id="24" name="Flow Rounded Rectangle 7"/>
          <p:cNvSpPr/>
          <p:nvPr/>
        </p:nvSpPr>
        <p:spPr>
          <a:xfrm>
            <a:off x="594360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 Rounded Rectangle 12"/>
          <p:cNvSpPr/>
          <p:nvPr/>
        </p:nvSpPr>
        <p:spPr>
          <a:xfrm>
            <a:off x="2907792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low Rounded Rectangle 17"/>
          <p:cNvSpPr/>
          <p:nvPr/>
        </p:nvSpPr>
        <p:spPr>
          <a:xfrm>
            <a:off x="5221224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low Rounded Rectangle 22"/>
          <p:cNvSpPr/>
          <p:nvPr/>
        </p:nvSpPr>
        <p:spPr>
          <a:xfrm>
            <a:off x="7534656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 Rounded Rectangle 27"/>
          <p:cNvSpPr/>
          <p:nvPr/>
        </p:nvSpPr>
        <p:spPr>
          <a:xfrm>
            <a:off x="9848088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low TextBox 8"/>
          <p:cNvSpPr txBox="1"/>
          <p:nvPr/>
        </p:nvSpPr>
        <p:spPr>
          <a:xfrm>
            <a:off x="740664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0" name="Flow TextBox 9"/>
          <p:cNvSpPr txBox="1"/>
          <p:nvPr/>
        </p:nvSpPr>
        <p:spPr>
          <a:xfrm>
            <a:off x="740664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SEARCH</a:t>
            </a:r>
          </a:p>
        </p:txBody>
      </p:sp>
      <p:sp>
        <p:nvSpPr>
          <p:cNvPr id="31" name="Flow TextBox 10"/>
          <p:cNvSpPr txBox="1"/>
          <p:nvPr/>
        </p:nvSpPr>
        <p:spPr>
          <a:xfrm>
            <a:off x="740664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Markets • stalls • products</a:t>
            </a:r>
          </a:p>
        </p:txBody>
      </p:sp>
      <p:sp>
        <p:nvSpPr>
          <p:cNvPr id="32" name="Flow TextBox 11"/>
          <p:cNvSpPr txBox="1"/>
          <p:nvPr/>
        </p:nvSpPr>
        <p:spPr>
          <a:xfrm>
            <a:off x="2359152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Flow TextBox 13"/>
          <p:cNvSpPr txBox="1"/>
          <p:nvPr/>
        </p:nvSpPr>
        <p:spPr>
          <a:xfrm>
            <a:off x="3054096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22C55E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4" name="Flow TextBox 14"/>
          <p:cNvSpPr txBox="1"/>
          <p:nvPr/>
        </p:nvSpPr>
        <p:spPr>
          <a:xfrm>
            <a:off x="3054096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PRE-ORDER</a:t>
            </a:r>
          </a:p>
        </p:txBody>
      </p:sp>
      <p:sp>
        <p:nvSpPr>
          <p:cNvPr id="35" name="Flow TextBox 15"/>
          <p:cNvSpPr txBox="1"/>
          <p:nvPr/>
        </p:nvSpPr>
        <p:spPr>
          <a:xfrm>
            <a:off x="3054096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Date • time slot</a:t>
            </a:r>
          </a:p>
        </p:txBody>
      </p:sp>
      <p:sp>
        <p:nvSpPr>
          <p:cNvPr id="36" name="Flow TextBox 16"/>
          <p:cNvSpPr txBox="1"/>
          <p:nvPr/>
        </p:nvSpPr>
        <p:spPr>
          <a:xfrm>
            <a:off x="4672584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7" name="Flow TextBox 18"/>
          <p:cNvSpPr txBox="1"/>
          <p:nvPr/>
        </p:nvSpPr>
        <p:spPr>
          <a:xfrm>
            <a:off x="5367528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59E0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8" name="Flow TextBox 19"/>
          <p:cNvSpPr txBox="1"/>
          <p:nvPr/>
        </p:nvSpPr>
        <p:spPr>
          <a:xfrm>
            <a:off x="5367528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CONFIRM</a:t>
            </a:r>
          </a:p>
        </p:txBody>
      </p:sp>
      <p:sp>
        <p:nvSpPr>
          <p:cNvPr id="39" name="Flow TextBox 20"/>
          <p:cNvSpPr txBox="1"/>
          <p:nvPr/>
        </p:nvSpPr>
        <p:spPr>
          <a:xfrm>
            <a:off x="5367528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Farmer processes the order</a:t>
            </a:r>
          </a:p>
        </p:txBody>
      </p:sp>
      <p:sp>
        <p:nvSpPr>
          <p:cNvPr id="40" name="Flow TextBox 21"/>
          <p:cNvSpPr txBox="1"/>
          <p:nvPr/>
        </p:nvSpPr>
        <p:spPr>
          <a:xfrm>
            <a:off x="6986016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1" name="Flow TextBox 23"/>
          <p:cNvSpPr txBox="1"/>
          <p:nvPr/>
        </p:nvSpPr>
        <p:spPr>
          <a:xfrm>
            <a:off x="7680960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4ADE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2" name="Flow TextBox 24"/>
          <p:cNvSpPr txBox="1"/>
          <p:nvPr/>
        </p:nvSpPr>
        <p:spPr>
          <a:xfrm>
            <a:off x="7680960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PICKUP</a:t>
            </a:r>
          </a:p>
        </p:txBody>
      </p:sp>
      <p:sp>
        <p:nvSpPr>
          <p:cNvPr id="43" name="Flow TextBox 25"/>
          <p:cNvSpPr txBox="1"/>
          <p:nvPr/>
        </p:nvSpPr>
        <p:spPr>
          <a:xfrm>
            <a:off x="7607808" y="4846320"/>
            <a:ext cx="162763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rPr lang="en-US"/>
              <a:t>Pay </a:t>
            </a:r>
            <a:r>
              <a:t>at the market / stall</a:t>
            </a:r>
          </a:p>
        </p:txBody>
      </p:sp>
      <p:sp>
        <p:nvSpPr>
          <p:cNvPr id="44" name="Flow TextBox 26"/>
          <p:cNvSpPr txBox="1"/>
          <p:nvPr/>
        </p:nvSpPr>
        <p:spPr>
          <a:xfrm>
            <a:off x="9299448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5" name="Flow TextBox 28"/>
          <p:cNvSpPr txBox="1"/>
          <p:nvPr/>
        </p:nvSpPr>
        <p:spPr>
          <a:xfrm>
            <a:off x="9994392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46" name="Flow TextBox 29"/>
          <p:cNvSpPr txBox="1"/>
          <p:nvPr/>
        </p:nvSpPr>
        <p:spPr>
          <a:xfrm>
            <a:off x="9994392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47" name="Flow TextBox 30"/>
          <p:cNvSpPr txBox="1"/>
          <p:nvPr/>
        </p:nvSpPr>
        <p:spPr>
          <a:xfrm>
            <a:off x="9994392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Feedback after the purchase</a:t>
            </a:r>
          </a:p>
        </p:txBody>
      </p:sp>
      <p:sp>
        <p:nvSpPr>
          <p:cNvPr id="48" name="Flow TextBox 31"/>
          <p:cNvSpPr txBox="1"/>
          <p:nvPr/>
        </p:nvSpPr>
        <p:spPr>
          <a:xfrm>
            <a:off x="914400" y="5715000"/>
            <a:ext cx="102412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Demo: customer orders → farmer is notified instantly (realtime) → confirm → pickup</a:t>
            </a:r>
          </a:p>
        </p:txBody>
      </p:sp>
      <p:pic>
        <p:nvPicPr>
          <p:cNvPr id="49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AI moderation of listings &amp;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Proactive moderation before anything goes public, with Admin follow-up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pic>
        <p:nvPicPr>
          <p:cNvPr id="24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  <p:sp>
        <p:nvSpPr>
          <p:cNvPr id="301" name="Activity frame"/>
          <p:cNvSpPr/>
          <p:nvPr/>
        </p:nvSpPr>
        <p:spPr>
          <a:xfrm>
            <a:off x="594360" y="1874520"/>
            <a:ext cx="11000232" cy="3383280"/>
          </a:xfrm>
          <a:prstGeom prst="rect">
            <a:avLst/>
          </a:prstGeom>
          <a:noFill/>
          <a:ln w="15875">
            <a:solidFill>
              <a:srgbClr val="243D32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302" name="Partition 01 — RULES &amp; GEMINI"/>
          <p:cNvSpPr/>
          <p:nvPr/>
        </p:nvSpPr>
        <p:spPr>
          <a:xfrm>
            <a:off x="594360" y="1874520"/>
            <a:ext cx="3154680" cy="347472"/>
          </a:xfrm>
          <a:prstGeom prst="rect">
            <a:avLst/>
          </a:prstGeom>
          <a:solidFill>
            <a:srgbClr val="15241C"/>
          </a:solidFill>
          <a:ln w="15875">
            <a:solidFill>
              <a:srgbClr val="243D32"/>
            </a:solidFill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F4F4F0"/>
                </a:solidFill>
                <a:latin typeface="Inter"/>
                <a:cs typeface="Inter"/>
              </a:rPr>
              <a:t>01 — RULES &amp; GEMINI</a:t>
            </a:r>
            <a:endParaRPr lang="en-US" sz="1100" dirty="0"/>
          </a:p>
        </p:txBody>
      </p:sp>
      <p:sp>
        <p:nvSpPr>
          <p:cNvPr id="303" name="Partition 02 — AUTO CLASSIFICATION"/>
          <p:cNvSpPr/>
          <p:nvPr/>
        </p:nvSpPr>
        <p:spPr>
          <a:xfrm>
            <a:off x="3749040" y="1874520"/>
            <a:ext cx="4343400" cy="347472"/>
          </a:xfrm>
          <a:prstGeom prst="rect">
            <a:avLst/>
          </a:prstGeom>
          <a:solidFill>
            <a:srgbClr val="15241C"/>
          </a:solidFill>
          <a:ln w="15875">
            <a:solidFill>
              <a:srgbClr val="243D32"/>
            </a:solidFill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F4F4F0"/>
                </a:solidFill>
                <a:latin typeface="Inter"/>
                <a:cs typeface="Inter"/>
              </a:rPr>
              <a:t>02 — AUTO CLASSIFICATION</a:t>
            </a:r>
            <a:endParaRPr lang="en-US" sz="1100" dirty="0"/>
          </a:p>
        </p:txBody>
      </p:sp>
      <p:cxnSp>
        <p:nvCxnSpPr>
          <p:cNvPr id="304" name="Connector 304"/>
          <p:cNvCxnSpPr/>
          <p:nvPr/>
        </p:nvCxnSpPr>
        <p:spPr>
          <a:xfrm>
            <a:off x="3749040" y="1874520"/>
            <a:ext cx="0" cy="3383280"/>
          </a:xfrm>
          <a:prstGeom prst="line">
            <a:avLst/>
          </a:prstGeom>
          <a:ln w="15875">
            <a:solidFill>
              <a:srgbClr val="243D32"/>
            </a:solidFill>
          </a:ln>
        </p:spPr>
      </p:cxnSp>
      <p:sp>
        <p:nvSpPr>
          <p:cNvPr id="305" name="Partition 03 — AI DECISIONS"/>
          <p:cNvSpPr/>
          <p:nvPr/>
        </p:nvSpPr>
        <p:spPr>
          <a:xfrm>
            <a:off x="8092440" y="1874520"/>
            <a:ext cx="3502152" cy="347472"/>
          </a:xfrm>
          <a:prstGeom prst="rect">
            <a:avLst/>
          </a:prstGeom>
          <a:solidFill>
            <a:srgbClr val="15241C"/>
          </a:solidFill>
          <a:ln w="15875">
            <a:solidFill>
              <a:srgbClr val="243D32"/>
            </a:solidFill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00" b="1" i="0" dirty="0">
                <a:solidFill>
                  <a:srgbClr val="F4F4F0"/>
                </a:solidFill>
                <a:latin typeface="Inter"/>
                <a:cs typeface="Inter"/>
              </a:rPr>
              <a:t>03 — AI DECISIONS</a:t>
            </a:r>
            <a:endParaRPr lang="en-US" sz="1100" dirty="0"/>
          </a:p>
        </p:txBody>
      </p:sp>
      <p:cxnSp>
        <p:nvCxnSpPr>
          <p:cNvPr id="306" name="Connector 306"/>
          <p:cNvCxnSpPr/>
          <p:nvPr/>
        </p:nvCxnSpPr>
        <p:spPr>
          <a:xfrm>
            <a:off x="8092440" y="1874520"/>
            <a:ext cx="0" cy="3383280"/>
          </a:xfrm>
          <a:prstGeom prst="line">
            <a:avLst/>
          </a:prstGeom>
          <a:ln w="15875">
            <a:solidFill>
              <a:srgbClr val="243D32"/>
            </a:solidFill>
          </a:ln>
        </p:spPr>
      </p:cxnSp>
      <p:sp>
        <p:nvSpPr>
          <p:cNvPr id="307" name="Initial node"/>
          <p:cNvSpPr/>
          <p:nvPr/>
        </p:nvSpPr>
        <p:spPr>
          <a:xfrm>
            <a:off x="2061972" y="2377440"/>
            <a:ext cx="219456" cy="219456"/>
          </a:xfrm>
          <a:prstGeom prst="ellipse">
            <a:avLst/>
          </a:prstGeom>
          <a:solidFill>
            <a:srgbClr val="F4F4F0"/>
          </a:solidFill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308" name="Action rule layer"/>
          <p:cNvSpPr/>
          <p:nvPr/>
        </p:nvSpPr>
        <p:spPr>
          <a:xfrm>
            <a:off x="777240" y="2788920"/>
            <a:ext cx="2788920" cy="59436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150" b="0" i="0" dirty="0">
                <a:solidFill>
                  <a:srgbClr val="F4F4F0"/>
                </a:solidFill>
                <a:latin typeface="Inter"/>
                <a:cs typeface="Inter"/>
              </a:rPr>
              <a:t>A rule layer checks price ranges and stock</a:t>
            </a:r>
            <a:endParaRPr lang="en-US" sz="1150" dirty="0"/>
          </a:p>
        </p:txBody>
      </p:sp>
      <p:sp>
        <p:nvSpPr>
          <p:cNvPr id="309" name="Action Gemini"/>
          <p:cNvSpPr/>
          <p:nvPr/>
        </p:nvSpPr>
        <p:spPr>
          <a:xfrm>
            <a:off x="777240" y="3611880"/>
            <a:ext cx="2788920" cy="73152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150" b="0" i="0" dirty="0">
                <a:solidFill>
                  <a:srgbClr val="F4F4F0"/>
                </a:solidFill>
                <a:latin typeface="Inter"/>
                <a:cs typeface="Inter"/>
              </a:rPr>
              <a:t>Gemini reads text and images to detect violations or wrong categories</a:t>
            </a:r>
            <a:endParaRPr lang="en-US" sz="1150" dirty="0"/>
          </a:p>
        </p:txBody>
      </p:sp>
      <p:cxnSp>
        <p:nvCxnSpPr>
          <p:cNvPr id="310" name="Connector 310"/>
          <p:cNvCxnSpPr/>
          <p:nvPr/>
        </p:nvCxnSpPr>
        <p:spPr>
          <a:xfrm>
            <a:off x="2171700" y="2596896"/>
            <a:ext cx="0" cy="192024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cxnSp>
        <p:nvCxnSpPr>
          <p:cNvPr id="311" name="Connector 311"/>
          <p:cNvCxnSpPr/>
          <p:nvPr/>
        </p:nvCxnSpPr>
        <p:spPr>
          <a:xfrm>
            <a:off x="2171700" y="3383280"/>
            <a:ext cx="0" cy="22860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12" name="Action Admin queue"/>
          <p:cNvSpPr/>
          <p:nvPr/>
        </p:nvSpPr>
        <p:spPr>
          <a:xfrm>
            <a:off x="1325880" y="4645152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F59E0B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150" b="1" i="0" dirty="0">
                <a:solidFill>
                  <a:srgbClr val="F4F4F0"/>
                </a:solidFill>
                <a:latin typeface="Inter"/>
                <a:cs typeface="Inter"/>
              </a:rPr>
              <a:t>Admin queue</a:t>
            </a:r>
            <a:endParaRPr lang="en-US" sz="1150" dirty="0"/>
          </a:p>
        </p:txBody>
      </p:sp>
      <p:cxnSp>
        <p:nvCxnSpPr>
          <p:cNvPr id="313" name="Connector 313"/>
          <p:cNvCxnSpPr/>
          <p:nvPr/>
        </p:nvCxnSpPr>
        <p:spPr>
          <a:xfrm>
            <a:off x="2171700" y="4343400"/>
            <a:ext cx="0" cy="301752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14" name="rect 314"/>
          <p:cNvSpPr txBox="1"/>
          <p:nvPr/>
        </p:nvSpPr>
        <p:spPr>
          <a:xfrm>
            <a:off x="2244852" y="43891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950" b="0" i="1" dirty="0">
                <a:solidFill>
                  <a:srgbClr val="F59E0B"/>
                </a:solidFill>
                <a:latin typeface="Inter"/>
                <a:cs typeface="Inter"/>
              </a:rPr>
              <a:t>[AI is unavailable]</a:t>
            </a:r>
            <a:endParaRPr lang="en-US" sz="950" dirty="0"/>
          </a:p>
        </p:txBody>
      </p:sp>
      <p:sp>
        <p:nvSpPr>
          <p:cNvPr id="315" name="Decision node"/>
          <p:cNvSpPr/>
          <p:nvPr/>
        </p:nvSpPr>
        <p:spPr>
          <a:xfrm>
            <a:off x="3931920" y="3749040"/>
            <a:ext cx="457200" cy="457200"/>
          </a:xfrm>
          <a:prstGeom prst="diamond">
            <a:avLst/>
          </a:prstGeom>
          <a:solidFill>
            <a:srgbClr val="15241C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cxnSp>
        <p:nvCxnSpPr>
          <p:cNvPr id="316" name="Connector 316"/>
          <p:cNvCxnSpPr/>
          <p:nvPr/>
        </p:nvCxnSpPr>
        <p:spPr>
          <a:xfrm>
            <a:off x="3566160" y="3977640"/>
            <a:ext cx="36576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cxnSp>
        <p:nvCxnSpPr>
          <p:cNvPr id="317" name="Connector 317"/>
          <p:cNvCxnSpPr/>
          <p:nvPr/>
        </p:nvCxnSpPr>
        <p:spPr>
          <a:xfrm>
            <a:off x="4389120" y="3977640"/>
            <a:ext cx="182880" cy="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cxnSp>
        <p:nvCxnSpPr>
          <p:cNvPr id="318" name="Connector 318"/>
          <p:cNvCxnSpPr/>
          <p:nvPr/>
        </p:nvCxnSpPr>
        <p:spPr>
          <a:xfrm>
            <a:off x="4572000" y="2651760"/>
            <a:ext cx="0" cy="178308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sp>
        <p:nvSpPr>
          <p:cNvPr id="319" name="Action Auto-approved"/>
          <p:cNvSpPr/>
          <p:nvPr/>
        </p:nvSpPr>
        <p:spPr>
          <a:xfrm>
            <a:off x="5760720" y="2423160"/>
            <a:ext cx="2148840" cy="45720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50" b="1" i="0" dirty="0">
                <a:solidFill>
                  <a:srgbClr val="F4F4F0"/>
                </a:solidFill>
                <a:latin typeface="Inter"/>
                <a:cs typeface="Inter"/>
              </a:rPr>
              <a:t>Auto-approved</a:t>
            </a:r>
            <a:endParaRPr lang="en-US" sz="1050" dirty="0"/>
          </a:p>
        </p:txBody>
      </p:sp>
      <p:cxnSp>
        <p:nvCxnSpPr>
          <p:cNvPr id="320" name="Connector 320"/>
          <p:cNvCxnSpPr/>
          <p:nvPr/>
        </p:nvCxnSpPr>
        <p:spPr>
          <a:xfrm>
            <a:off x="4572000" y="2651760"/>
            <a:ext cx="11887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21" name="rect 321"/>
          <p:cNvSpPr txBox="1"/>
          <p:nvPr/>
        </p:nvSpPr>
        <p:spPr>
          <a:xfrm>
            <a:off x="4645152" y="243230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950" b="0" i="1" dirty="0">
                <a:solidFill>
                  <a:srgbClr val="86EFAC"/>
                </a:solidFill>
                <a:latin typeface="Inter"/>
                <a:cs typeface="Inter"/>
              </a:rPr>
              <a:t>[clean listing]</a:t>
            </a:r>
            <a:endParaRPr lang="en-US" sz="950" dirty="0"/>
          </a:p>
        </p:txBody>
      </p:sp>
      <p:cxnSp>
        <p:nvCxnSpPr>
          <p:cNvPr id="322" name="Connector 322"/>
          <p:cNvCxnSpPr/>
          <p:nvPr/>
        </p:nvCxnSpPr>
        <p:spPr>
          <a:xfrm>
            <a:off x="7909560" y="2651760"/>
            <a:ext cx="91440" cy="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sp>
        <p:nvSpPr>
          <p:cNvPr id="323" name="Action Held"/>
          <p:cNvSpPr/>
          <p:nvPr/>
        </p:nvSpPr>
        <p:spPr>
          <a:xfrm>
            <a:off x="5760720" y="3017520"/>
            <a:ext cx="2148840" cy="45720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F59E0B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50" b="1" i="0" dirty="0">
                <a:solidFill>
                  <a:srgbClr val="F4F4F0"/>
                </a:solidFill>
                <a:latin typeface="Inter"/>
                <a:cs typeface="Inter"/>
              </a:rPr>
              <a:t>Held</a:t>
            </a:r>
            <a:endParaRPr lang="en-US" sz="1050" dirty="0"/>
          </a:p>
        </p:txBody>
      </p:sp>
      <p:cxnSp>
        <p:nvCxnSpPr>
          <p:cNvPr id="324" name="Connector 324"/>
          <p:cNvCxnSpPr/>
          <p:nvPr/>
        </p:nvCxnSpPr>
        <p:spPr>
          <a:xfrm>
            <a:off x="4572000" y="3246120"/>
            <a:ext cx="11887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25" name="rect 325"/>
          <p:cNvSpPr txBox="1"/>
          <p:nvPr/>
        </p:nvSpPr>
        <p:spPr>
          <a:xfrm>
            <a:off x="4645152" y="302666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950" b="0" i="1" dirty="0">
                <a:solidFill>
                  <a:srgbClr val="F59E0B"/>
                </a:solidFill>
                <a:latin typeface="Inter"/>
                <a:cs typeface="Inter"/>
              </a:rPr>
              <a:t>[suspicious listing]</a:t>
            </a:r>
            <a:endParaRPr lang="en-US" sz="950" dirty="0"/>
          </a:p>
        </p:txBody>
      </p:sp>
      <p:cxnSp>
        <p:nvCxnSpPr>
          <p:cNvPr id="326" name="Connector 326"/>
          <p:cNvCxnSpPr/>
          <p:nvPr/>
        </p:nvCxnSpPr>
        <p:spPr>
          <a:xfrm>
            <a:off x="7909560" y="3246120"/>
            <a:ext cx="91440" cy="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sp>
        <p:nvSpPr>
          <p:cNvPr id="327" name="Action Auto-hidden (Hidden by AI)"/>
          <p:cNvSpPr/>
          <p:nvPr/>
        </p:nvSpPr>
        <p:spPr>
          <a:xfrm>
            <a:off x="5760720" y="3611880"/>
            <a:ext cx="2148840" cy="45720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F59E0B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50" b="1" i="0" dirty="0">
                <a:solidFill>
                  <a:srgbClr val="F4F4F0"/>
                </a:solidFill>
                <a:latin typeface="Inter"/>
                <a:cs typeface="Inter"/>
              </a:rPr>
              <a:t>Auto-hidden (Hidden by AI)</a:t>
            </a:r>
            <a:endParaRPr lang="en-US" sz="1050" dirty="0"/>
          </a:p>
        </p:txBody>
      </p:sp>
      <p:cxnSp>
        <p:nvCxnSpPr>
          <p:cNvPr id="328" name="Connector 328"/>
          <p:cNvCxnSpPr/>
          <p:nvPr/>
        </p:nvCxnSpPr>
        <p:spPr>
          <a:xfrm>
            <a:off x="4572000" y="3840480"/>
            <a:ext cx="11887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29" name="rect 329"/>
          <p:cNvSpPr txBox="1"/>
          <p:nvPr/>
        </p:nvSpPr>
        <p:spPr>
          <a:xfrm>
            <a:off x="4645152" y="362102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950" b="0" i="1" dirty="0">
                <a:solidFill>
                  <a:srgbClr val="F59E0B"/>
                </a:solidFill>
                <a:latin typeface="Inter"/>
                <a:cs typeface="Inter"/>
              </a:rPr>
              <a:t>[abusive review]</a:t>
            </a:r>
            <a:endParaRPr lang="en-US" sz="950" dirty="0"/>
          </a:p>
        </p:txBody>
      </p:sp>
      <p:cxnSp>
        <p:nvCxnSpPr>
          <p:cNvPr id="330" name="Connector 330"/>
          <p:cNvCxnSpPr/>
          <p:nvPr/>
        </p:nvCxnSpPr>
        <p:spPr>
          <a:xfrm>
            <a:off x="7909560" y="3840480"/>
            <a:ext cx="91440" cy="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sp>
        <p:nvSpPr>
          <p:cNvPr id="331" name="Action Stays"/>
          <p:cNvSpPr/>
          <p:nvPr/>
        </p:nvSpPr>
        <p:spPr>
          <a:xfrm>
            <a:off x="5760720" y="4206240"/>
            <a:ext cx="2148840" cy="45720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50" b="1" i="0" dirty="0">
                <a:solidFill>
                  <a:srgbClr val="F4F4F0"/>
                </a:solidFill>
                <a:latin typeface="Inter"/>
                <a:cs typeface="Inter"/>
              </a:rPr>
              <a:t>Stays</a:t>
            </a:r>
            <a:endParaRPr lang="en-US" sz="1050" dirty="0"/>
          </a:p>
        </p:txBody>
      </p:sp>
      <p:cxnSp>
        <p:nvCxnSpPr>
          <p:cNvPr id="332" name="Connector 332"/>
          <p:cNvCxnSpPr/>
          <p:nvPr/>
        </p:nvCxnSpPr>
        <p:spPr>
          <a:xfrm>
            <a:off x="4572000" y="4434840"/>
            <a:ext cx="11887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33" name="rect 333"/>
          <p:cNvSpPr txBox="1"/>
          <p:nvPr/>
        </p:nvSpPr>
        <p:spPr>
          <a:xfrm>
            <a:off x="4645152" y="421538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950" b="0" i="1" dirty="0">
                <a:solidFill>
                  <a:srgbClr val="86EFAC"/>
                </a:solidFill>
                <a:latin typeface="Inter"/>
                <a:cs typeface="Inter"/>
              </a:rPr>
              <a:t>[genuine criticism]</a:t>
            </a:r>
            <a:endParaRPr lang="en-US" sz="950" dirty="0"/>
          </a:p>
        </p:txBody>
      </p:sp>
      <p:cxnSp>
        <p:nvCxnSpPr>
          <p:cNvPr id="334" name="Connector 334"/>
          <p:cNvCxnSpPr/>
          <p:nvPr/>
        </p:nvCxnSpPr>
        <p:spPr>
          <a:xfrm>
            <a:off x="7909560" y="4434840"/>
            <a:ext cx="91440" cy="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cxnSp>
        <p:nvCxnSpPr>
          <p:cNvPr id="335" name="Connector 335"/>
          <p:cNvCxnSpPr/>
          <p:nvPr/>
        </p:nvCxnSpPr>
        <p:spPr>
          <a:xfrm>
            <a:off x="8001000" y="2651760"/>
            <a:ext cx="0" cy="1783080"/>
          </a:xfrm>
          <a:prstGeom prst="line">
            <a:avLst/>
          </a:prstGeom>
          <a:ln w="15875">
            <a:solidFill>
              <a:srgbClr val="4ADE80"/>
            </a:solidFill>
          </a:ln>
        </p:spPr>
      </p:cxnSp>
      <p:sp>
        <p:nvSpPr>
          <p:cNvPr id="336" name="Merge node"/>
          <p:cNvSpPr/>
          <p:nvPr/>
        </p:nvSpPr>
        <p:spPr>
          <a:xfrm>
            <a:off x="8275320" y="3337560"/>
            <a:ext cx="365760" cy="365760"/>
          </a:xfrm>
          <a:prstGeom prst="diamond">
            <a:avLst/>
          </a:prstGeom>
          <a:solidFill>
            <a:srgbClr val="15241C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cxnSp>
        <p:nvCxnSpPr>
          <p:cNvPr id="337" name="Connector 337"/>
          <p:cNvCxnSpPr/>
          <p:nvPr/>
        </p:nvCxnSpPr>
        <p:spPr>
          <a:xfrm>
            <a:off x="8001000" y="3520440"/>
            <a:ext cx="2743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38" name="Action AI Decisions"/>
          <p:cNvSpPr/>
          <p:nvPr/>
        </p:nvSpPr>
        <p:spPr>
          <a:xfrm>
            <a:off x="8915400" y="2926080"/>
            <a:ext cx="2514600" cy="1188720"/>
          </a:xfrm>
          <a:prstGeom prst="roundRect">
            <a:avLst>
              <a:gd name="adj" fmla="val 30000"/>
            </a:avLst>
          </a:prstGeom>
          <a:solidFill>
            <a:srgbClr val="1A2E24"/>
          </a:solidFill>
          <a:ln w="15875">
            <a:solidFill>
              <a:srgbClr val="86EFAC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150" b="0" i="0" dirty="0">
                <a:solidFill>
                  <a:srgbClr val="F4F4F0"/>
                </a:solidFill>
                <a:latin typeface="Inter"/>
                <a:cs typeface="Inter"/>
              </a:rPr>
              <a:t>Admin reviews AI decisions, sees 30-day reliability stats and restores (Restore) when needed.</a:t>
            </a:r>
            <a:endParaRPr lang="en-US" sz="1150" dirty="0"/>
          </a:p>
        </p:txBody>
      </p:sp>
      <p:cxnSp>
        <p:nvCxnSpPr>
          <p:cNvPr id="339" name="Connector 339"/>
          <p:cNvCxnSpPr/>
          <p:nvPr/>
        </p:nvCxnSpPr>
        <p:spPr>
          <a:xfrm>
            <a:off x="8641080" y="3520440"/>
            <a:ext cx="27432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40" name="Final node"/>
          <p:cNvSpPr/>
          <p:nvPr/>
        </p:nvSpPr>
        <p:spPr>
          <a:xfrm>
            <a:off x="10026396" y="4700016"/>
            <a:ext cx="292608" cy="292608"/>
          </a:xfrm>
          <a:prstGeom prst="ellipse">
            <a:avLst/>
          </a:prstGeom>
          <a:noFill/>
          <a:ln w="19050">
            <a:solidFill>
              <a:srgbClr val="F4F4F0"/>
            </a:solidFill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341" name="Final node core"/>
          <p:cNvSpPr/>
          <p:nvPr/>
        </p:nvSpPr>
        <p:spPr>
          <a:xfrm>
            <a:off x="10090404" y="4764024"/>
            <a:ext cx="164592" cy="164592"/>
          </a:xfrm>
          <a:prstGeom prst="ellipse">
            <a:avLst/>
          </a:prstGeom>
          <a:solidFill>
            <a:srgbClr val="F4F4F0"/>
          </a:solidFill>
          <a:ln>
            <a:noFill/>
          </a:ln>
        </p:spPr>
        <p:txBody>
          <a:bodyPr wrap="square" lIns="73152" tIns="45720" rIns="73152" bIns="45720" rtlCol="0" anchor="t">
            <a:noAutofit/>
          </a:bodyPr>
          <a:lstStyle/>
          <a:p>
            <a:endParaRPr lang="en-US" dirty="0"/>
          </a:p>
        </p:txBody>
      </p:sp>
      <p:cxnSp>
        <p:nvCxnSpPr>
          <p:cNvPr id="342" name="Connector 342"/>
          <p:cNvCxnSpPr/>
          <p:nvPr/>
        </p:nvCxnSpPr>
        <p:spPr>
          <a:xfrm>
            <a:off x="10172700" y="4114800"/>
            <a:ext cx="0" cy="585216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cxnSp>
        <p:nvCxnSpPr>
          <p:cNvPr id="343" name="Connector 343"/>
          <p:cNvCxnSpPr/>
          <p:nvPr/>
        </p:nvCxnSpPr>
        <p:spPr>
          <a:xfrm>
            <a:off x="3017520" y="4846320"/>
            <a:ext cx="7008876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</p:spPr>
      </p:cxnSp>
      <p:sp>
        <p:nvSpPr>
          <p:cNvPr id="344" name="Value banner"/>
          <p:cNvSpPr/>
          <p:nvPr/>
        </p:nvSpPr>
        <p:spPr>
          <a:xfrm>
            <a:off x="594360" y="5440680"/>
            <a:ext cx="11000232" cy="594360"/>
          </a:xfrm>
          <a:prstGeom prst="foldedCorner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300" b="1" i="0" dirty="0">
                <a:solidFill>
                  <a:srgbClr val="4ADE80"/>
                </a:solidFill>
                <a:latin typeface="Inter"/>
                <a:cs typeface="Inter"/>
              </a:rPr>
              <a:t>Value: </a:t>
            </a:r>
            <a:r>
              <a:rPr lang="en-US" sz="1300" b="1" i="0" dirty="0">
                <a:solidFill>
                  <a:srgbClr val="F4F4F0"/>
                </a:solidFill>
                <a:latin typeface="Inter"/>
                <a:cs typeface="Inter"/>
              </a:rPr>
              <a:t>bad content is stopped up front; if AI is unavailable, listings go to the Admin queue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Role-based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 chatbot that queries real business data instead of only giving general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057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“When and where do I pick up my order?” → The bot looks up the customer’s own order: market, date, time slot.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057400"/>
            <a:ext cx="54864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FARMER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“Which of my items are running low?” → The bot lists the stall’s low-stock, sold-out and pending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54864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“What is waiting for me today?” → The bot counts pending stalls, products, flags and at-risk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4ADE80"/>
                </a:solidFill>
                <a:latin typeface="Inter"/>
              </a:defRPr>
            </a:pPr>
            <a:r>
              <a:t>Safeguards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983480"/>
            <a:ext cx="49194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Read-only query tools; data is filtered by who is asking.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4983480"/>
            <a:ext cx="4828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Permissions checked on the server; question limits and a fallback model.</a:t>
            </a:r>
          </a:p>
        </p:txBody>
      </p:sp>
      <p:pic>
        <p:nvPicPr>
          <p:cNvPr id="25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Stock protection</a:t>
            </a:r>
            <a:r>
              <a:rPr lang="en-US"/>
              <a:t> -</a:t>
            </a:r>
            <a:r>
              <a:t> duplicate-order prevention</a:t>
            </a:r>
            <a:r>
              <a:rPr lang="en-US"/>
              <a:t> - Change history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Prevents overselling and duplicate orders on unstable connections.</a:t>
            </a:r>
            <a:r>
              <a:rPr lang="en-US"/>
              <a:t> Traces history when disputes arise.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STOCK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 new order holds the quantity; accepting deducts real stock, declining or expiring releases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NO DUPLICATE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An Idempotency-Key lets a request be resent within its retention window without creating another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Transactions and row locks protect concurrent stock updates.</a:t>
            </a:r>
          </a:p>
        </p:txBody>
      </p:sp>
      <p:sp>
        <p:nvSpPr>
          <p:cNvPr id="24" name="Audit Rounded Rectangle 15"/>
          <p:cNvSpPr/>
          <p:nvPr/>
        </p:nvSpPr>
        <p:spPr>
          <a:xfrm>
            <a:off x="89611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udit Rectangle 16"/>
          <p:cNvSpPr/>
          <p:nvPr/>
        </p:nvSpPr>
        <p:spPr>
          <a:xfrm>
            <a:off x="8961120" y="205740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udit TextBox 17"/>
          <p:cNvSpPr txBox="1"/>
          <p:nvPr/>
        </p:nvSpPr>
        <p:spPr>
          <a:xfrm>
            <a:off x="91622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AUDIT LOG &amp; HISTORY</a:t>
            </a:r>
          </a:p>
        </p:txBody>
      </p:sp>
      <p:sp>
        <p:nvSpPr>
          <p:cNvPr id="27" name="Audit TextBox 18"/>
          <p:cNvSpPr txBox="1"/>
          <p:nvPr/>
        </p:nvSpPr>
        <p:spPr>
          <a:xfrm>
            <a:off x="9162288" y="2697480"/>
            <a:ext cx="2148840" cy="10556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rPr lang="en-001" sz="1300"/>
              <a:t>Logs every admin action (who, when, IP, reason), incl. reviews hidden by AI. Change History keeps each field edit (Old → New)</a:t>
            </a:r>
            <a: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STOCK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Stock 30 kg  −  Customer A orders 20 kg  =  Customer B can order up to 10 kg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Stopping fake orders &amp; no-show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Protects farmers from fake orders in a pay-cash-at-the-market model (no deposit).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770632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rPr lang="en-001" sz="1600" b="1"/>
              <a:t>BLOCK FAKE ORDERS EARLY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At most 10 orders awaiting confirmation and 10 checkouts per hour per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CUSTOMER NO-SHOW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If the customer does not come, the farmer marks No-show: the stock returns to sale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AUTO-LOCK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3 no-shows in 30 days: the account is locked and its open orders are cancelled.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Customer orders 5 kg of greens, never shows  →  No-show  →  5 kg back in stock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4F4F0"/>
                </a:solidFill>
                <a:latin typeface="Inter"/>
              </a:defRPr>
            </a:pPr>
            <a:r>
              <a:t>MarketLink: from ordering to reliable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640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54864" cy="1828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01 — REAL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Connects buyers, farmers and Admin in one flow: pre-order, pick up and pay cash at the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331720"/>
            <a:ext cx="54864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02 — CONTROLLED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2-layer moderation (Rules + Gemini) with follow-up review, and an AI assistant that queries real data by permission.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03 —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No overselling, no duplicate orders from double clicks, fake-order limits and no-show account 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DCE5DF"/>
                </a:solidFill>
                <a:latin typeface="Inter"/>
              </a:defRPr>
            </a:pPr>
            <a:r>
              <a:rPr lang="en-US" b="1">
                <a:solidFill>
                  <a:srgbClr val="4ADE80"/>
                </a:solidFill>
              </a:rPr>
              <a:t>Other extended features:  </a:t>
            </a:r>
            <a:r>
              <a:rPr lang="en-US"/>
              <a:t>(Customer) </a:t>
            </a:r>
            <a:r>
              <a:t>order change requests • </a:t>
            </a:r>
            <a:r>
              <a:rPr lang="en-US"/>
              <a:t>(Farmer) </a:t>
            </a:r>
            <a:r>
              <a:t>remove sold-out items</a:t>
            </a:r>
            <a:r>
              <a:rPr lang="en-US"/>
              <a:t> •</a:t>
            </a:r>
            <a:r>
              <a:t> </a:t>
            </a:r>
            <a:r>
              <a:rPr lang="en-US" sz="1100">
                <a:solidFill>
                  <a:srgbClr val="DCE5DF"/>
                </a:solidFill>
                <a:latin typeface="Inter"/>
              </a:rPr>
              <a:t>(</a:t>
            </a:r>
            <a:r>
              <a:rPr lang="en-US"/>
              <a:t>Admin) emergency market closure </a:t>
            </a:r>
            <a:endParaRPr/>
          </a:p>
        </p:txBody>
      </p:sp>
      <p:sp>
        <p:nvSpPr>
          <p:cNvPr id="99" name="TextBox Thanks"/>
          <p:cNvSpPr txBox="1"/>
          <p:nvPr/>
        </p:nvSpPr>
        <p:spPr>
          <a:xfrm>
            <a:off x="822960" y="5212080"/>
            <a:ext cx="1042416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900" b="1" i="0">
                <a:solidFill>
                  <a:srgbClr val="4ADE80"/>
                </a:solidFill>
                <a:latin typeface="Inter"/>
              </a:defRPr>
            </a:pPr>
            <a:r>
              <a:t>Thank you, members of the panel.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60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9DB0A6"/>
                </a:solidFill>
                <a:latin typeface="Inter"/>
              </a:defRPr>
            </a:pPr>
            <a:r>
              <a:t>09 / 09</a:t>
            </a:r>
          </a:p>
        </p:txBody>
      </p:sp>
      <p:pic>
        <p:nvPicPr>
          <p:cNvPr id="10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6247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1250</Words>
  <Application>Microsoft Office PowerPoint</Application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Nguyen</cp:lastModifiedBy>
  <cp:revision>15</cp:revision>
  <dcterms:created xsi:type="dcterms:W3CDTF">2013-01-27T09:14:16Z</dcterms:created>
  <dcterms:modified xsi:type="dcterms:W3CDTF">2026-10-29T08:35:44Z</dcterms:modified>
  <cp:category/>
</cp:coreProperties>
</file>